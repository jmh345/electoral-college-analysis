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73" r:id="rId11"/>
    <p:sldId id="27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CCFF"/>
    <a:srgbClr val="7C5AE8"/>
    <a:srgbClr val="99CCFF"/>
    <a:srgbClr val="B929DB"/>
    <a:srgbClr val="88D5F8"/>
    <a:srgbClr val="48EAF6"/>
    <a:srgbClr val="AFF6FB"/>
    <a:srgbClr val="E898B6"/>
    <a:srgbClr val="EFB7CC"/>
    <a:srgbClr val="8DE5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3" autoAdjust="0"/>
    <p:restoredTop sz="94660"/>
  </p:normalViewPr>
  <p:slideViewPr>
    <p:cSldViewPr snapToGrid="0">
      <p:cViewPr varScale="1">
        <p:scale>
          <a:sx n="104" d="100"/>
          <a:sy n="104" d="100"/>
        </p:scale>
        <p:origin x="216" y="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FD92A-431B-781B-10AE-30934DCBFD5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503B6DB-53B5-1D2B-5709-D5AEAC83292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9DC8A8D-6B56-883F-AB2C-5D5C703188B0}"/>
              </a:ext>
            </a:extLst>
          </p:cNvPr>
          <p:cNvSpPr>
            <a:spLocks noGrp="1"/>
          </p:cNvSpPr>
          <p:nvPr>
            <p:ph type="dt" sz="half" idx="10"/>
          </p:nvPr>
        </p:nvSpPr>
        <p:spPr/>
        <p:txBody>
          <a:bodyPr/>
          <a:lstStyle/>
          <a:p>
            <a:fld id="{71B6352D-72B3-466B-A027-C9C12242323D}" type="datetimeFigureOut">
              <a:rPr lang="en-US" smtClean="0"/>
              <a:t>5/11/2026</a:t>
            </a:fld>
            <a:endParaRPr lang="en-US"/>
          </a:p>
        </p:txBody>
      </p:sp>
      <p:sp>
        <p:nvSpPr>
          <p:cNvPr id="5" name="Footer Placeholder 4">
            <a:extLst>
              <a:ext uri="{FF2B5EF4-FFF2-40B4-BE49-F238E27FC236}">
                <a16:creationId xmlns:a16="http://schemas.microsoft.com/office/drawing/2014/main" id="{9BA94572-D6A4-6F8C-3F04-D1C7FAE68D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4D1236-EC4B-311A-D6F4-61B56795C97A}"/>
              </a:ext>
            </a:extLst>
          </p:cNvPr>
          <p:cNvSpPr>
            <a:spLocks noGrp="1"/>
          </p:cNvSpPr>
          <p:nvPr>
            <p:ph type="sldNum" sz="quarter" idx="12"/>
          </p:nvPr>
        </p:nvSpPr>
        <p:spPr/>
        <p:txBody>
          <a:bodyPr/>
          <a:lstStyle/>
          <a:p>
            <a:fld id="{BDA5375C-59F9-4923-B75D-1A3C4E4E5C53}" type="slidenum">
              <a:rPr lang="en-US" smtClean="0"/>
              <a:t>‹#›</a:t>
            </a:fld>
            <a:endParaRPr lang="en-US"/>
          </a:p>
        </p:txBody>
      </p:sp>
    </p:spTree>
    <p:extLst>
      <p:ext uri="{BB962C8B-B14F-4D97-AF65-F5344CB8AC3E}">
        <p14:creationId xmlns:p14="http://schemas.microsoft.com/office/powerpoint/2010/main" val="1251368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759D7-C19B-0212-7292-B63588A2509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61AAFFC-5697-C82C-0144-E220F8126F1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687FF40-72CB-8C16-E9A4-79045E84B169}"/>
              </a:ext>
            </a:extLst>
          </p:cNvPr>
          <p:cNvSpPr>
            <a:spLocks noGrp="1"/>
          </p:cNvSpPr>
          <p:nvPr>
            <p:ph type="dt" sz="half" idx="10"/>
          </p:nvPr>
        </p:nvSpPr>
        <p:spPr/>
        <p:txBody>
          <a:bodyPr/>
          <a:lstStyle/>
          <a:p>
            <a:fld id="{71B6352D-72B3-466B-A027-C9C12242323D}" type="datetimeFigureOut">
              <a:rPr lang="en-US" smtClean="0"/>
              <a:t>5/11/2026</a:t>
            </a:fld>
            <a:endParaRPr lang="en-US"/>
          </a:p>
        </p:txBody>
      </p:sp>
      <p:sp>
        <p:nvSpPr>
          <p:cNvPr id="5" name="Footer Placeholder 4">
            <a:extLst>
              <a:ext uri="{FF2B5EF4-FFF2-40B4-BE49-F238E27FC236}">
                <a16:creationId xmlns:a16="http://schemas.microsoft.com/office/drawing/2014/main" id="{6581A3E7-58C2-AC62-8D60-5EA2ABAB59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28DB7A-F1EF-8310-49D1-C3E53378CEC8}"/>
              </a:ext>
            </a:extLst>
          </p:cNvPr>
          <p:cNvSpPr>
            <a:spLocks noGrp="1"/>
          </p:cNvSpPr>
          <p:nvPr>
            <p:ph type="sldNum" sz="quarter" idx="12"/>
          </p:nvPr>
        </p:nvSpPr>
        <p:spPr/>
        <p:txBody>
          <a:bodyPr/>
          <a:lstStyle/>
          <a:p>
            <a:fld id="{BDA5375C-59F9-4923-B75D-1A3C4E4E5C53}" type="slidenum">
              <a:rPr lang="en-US" smtClean="0"/>
              <a:t>‹#›</a:t>
            </a:fld>
            <a:endParaRPr lang="en-US"/>
          </a:p>
        </p:txBody>
      </p:sp>
    </p:spTree>
    <p:extLst>
      <p:ext uri="{BB962C8B-B14F-4D97-AF65-F5344CB8AC3E}">
        <p14:creationId xmlns:p14="http://schemas.microsoft.com/office/powerpoint/2010/main" val="165613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613F9-A5ED-2C79-A8C7-296649B92E8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0BC4409-9905-6314-4FF8-0529C61D44F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865E393-CCEB-0E76-10DA-0679D941A284}"/>
              </a:ext>
            </a:extLst>
          </p:cNvPr>
          <p:cNvSpPr>
            <a:spLocks noGrp="1"/>
          </p:cNvSpPr>
          <p:nvPr>
            <p:ph type="dt" sz="half" idx="10"/>
          </p:nvPr>
        </p:nvSpPr>
        <p:spPr/>
        <p:txBody>
          <a:bodyPr/>
          <a:lstStyle/>
          <a:p>
            <a:fld id="{71B6352D-72B3-466B-A027-C9C12242323D}" type="datetimeFigureOut">
              <a:rPr lang="en-US" smtClean="0"/>
              <a:t>5/11/2026</a:t>
            </a:fld>
            <a:endParaRPr lang="en-US"/>
          </a:p>
        </p:txBody>
      </p:sp>
      <p:sp>
        <p:nvSpPr>
          <p:cNvPr id="5" name="Footer Placeholder 4">
            <a:extLst>
              <a:ext uri="{FF2B5EF4-FFF2-40B4-BE49-F238E27FC236}">
                <a16:creationId xmlns:a16="http://schemas.microsoft.com/office/drawing/2014/main" id="{4FDEAFC1-0A16-9D6C-474A-97B77CEE4B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543145-20B5-2A33-3B75-BFBD400D437B}"/>
              </a:ext>
            </a:extLst>
          </p:cNvPr>
          <p:cNvSpPr>
            <a:spLocks noGrp="1"/>
          </p:cNvSpPr>
          <p:nvPr>
            <p:ph type="sldNum" sz="quarter" idx="12"/>
          </p:nvPr>
        </p:nvSpPr>
        <p:spPr/>
        <p:txBody>
          <a:bodyPr/>
          <a:lstStyle/>
          <a:p>
            <a:fld id="{BDA5375C-59F9-4923-B75D-1A3C4E4E5C53}" type="slidenum">
              <a:rPr lang="en-US" smtClean="0"/>
              <a:t>‹#›</a:t>
            </a:fld>
            <a:endParaRPr lang="en-US"/>
          </a:p>
        </p:txBody>
      </p:sp>
    </p:spTree>
    <p:extLst>
      <p:ext uri="{BB962C8B-B14F-4D97-AF65-F5344CB8AC3E}">
        <p14:creationId xmlns:p14="http://schemas.microsoft.com/office/powerpoint/2010/main" val="24021859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E633C-DA93-4933-917C-3870E9E6012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105D5FE-D729-88FB-9712-2E5AFF98093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B5A259A-8934-7AF4-1574-FA43DC5C9D0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682F81E-D59D-E136-A87F-35B1BFDC151B}"/>
              </a:ext>
            </a:extLst>
          </p:cNvPr>
          <p:cNvSpPr>
            <a:spLocks noGrp="1"/>
          </p:cNvSpPr>
          <p:nvPr>
            <p:ph type="dt" sz="half" idx="10"/>
          </p:nvPr>
        </p:nvSpPr>
        <p:spPr/>
        <p:txBody>
          <a:bodyPr/>
          <a:lstStyle/>
          <a:p>
            <a:fld id="{71B6352D-72B3-466B-A027-C9C12242323D}" type="datetimeFigureOut">
              <a:rPr lang="en-US" smtClean="0"/>
              <a:t>5/11/2026</a:t>
            </a:fld>
            <a:endParaRPr lang="en-US"/>
          </a:p>
        </p:txBody>
      </p:sp>
      <p:sp>
        <p:nvSpPr>
          <p:cNvPr id="6" name="Footer Placeholder 5">
            <a:extLst>
              <a:ext uri="{FF2B5EF4-FFF2-40B4-BE49-F238E27FC236}">
                <a16:creationId xmlns:a16="http://schemas.microsoft.com/office/drawing/2014/main" id="{FD919E21-ABEE-DD4C-06DC-7C66A219B8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1002CBE-584C-96B8-57FD-83B00890DCDB}"/>
              </a:ext>
            </a:extLst>
          </p:cNvPr>
          <p:cNvSpPr>
            <a:spLocks noGrp="1"/>
          </p:cNvSpPr>
          <p:nvPr>
            <p:ph type="sldNum" sz="quarter" idx="12"/>
          </p:nvPr>
        </p:nvSpPr>
        <p:spPr/>
        <p:txBody>
          <a:bodyPr/>
          <a:lstStyle/>
          <a:p>
            <a:fld id="{BDA5375C-59F9-4923-B75D-1A3C4E4E5C53}" type="slidenum">
              <a:rPr lang="en-US" smtClean="0"/>
              <a:t>‹#›</a:t>
            </a:fld>
            <a:endParaRPr lang="en-US"/>
          </a:p>
        </p:txBody>
      </p:sp>
    </p:spTree>
    <p:extLst>
      <p:ext uri="{BB962C8B-B14F-4D97-AF65-F5344CB8AC3E}">
        <p14:creationId xmlns:p14="http://schemas.microsoft.com/office/powerpoint/2010/main" val="42893232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D7E90-8C92-D70D-696C-304442078C2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E41ABDD-FB7B-2EAB-78FD-9A32C36AD88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65C0FDC-780D-2636-8944-0B89733488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C9B9D7F-A7CA-DEC7-A98F-FA71AD67C02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D3201E6-4EE9-F084-5B77-A8E0B8082B5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13F98AE-23F6-9B3F-ECEE-BE862C439DA3}"/>
              </a:ext>
            </a:extLst>
          </p:cNvPr>
          <p:cNvSpPr>
            <a:spLocks noGrp="1"/>
          </p:cNvSpPr>
          <p:nvPr>
            <p:ph type="dt" sz="half" idx="10"/>
          </p:nvPr>
        </p:nvSpPr>
        <p:spPr/>
        <p:txBody>
          <a:bodyPr/>
          <a:lstStyle/>
          <a:p>
            <a:fld id="{71B6352D-72B3-466B-A027-C9C12242323D}" type="datetimeFigureOut">
              <a:rPr lang="en-US" smtClean="0"/>
              <a:t>5/11/2026</a:t>
            </a:fld>
            <a:endParaRPr lang="en-US"/>
          </a:p>
        </p:txBody>
      </p:sp>
      <p:sp>
        <p:nvSpPr>
          <p:cNvPr id="8" name="Footer Placeholder 7">
            <a:extLst>
              <a:ext uri="{FF2B5EF4-FFF2-40B4-BE49-F238E27FC236}">
                <a16:creationId xmlns:a16="http://schemas.microsoft.com/office/drawing/2014/main" id="{8707978B-D6BA-6F4B-5D66-D33CD35003C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2B851F7-866A-5A59-C033-6F1A1094E9B1}"/>
              </a:ext>
            </a:extLst>
          </p:cNvPr>
          <p:cNvSpPr>
            <a:spLocks noGrp="1"/>
          </p:cNvSpPr>
          <p:nvPr>
            <p:ph type="sldNum" sz="quarter" idx="12"/>
          </p:nvPr>
        </p:nvSpPr>
        <p:spPr/>
        <p:txBody>
          <a:bodyPr/>
          <a:lstStyle/>
          <a:p>
            <a:fld id="{BDA5375C-59F9-4923-B75D-1A3C4E4E5C53}" type="slidenum">
              <a:rPr lang="en-US" smtClean="0"/>
              <a:t>‹#›</a:t>
            </a:fld>
            <a:endParaRPr lang="en-US"/>
          </a:p>
        </p:txBody>
      </p:sp>
    </p:spTree>
    <p:extLst>
      <p:ext uri="{BB962C8B-B14F-4D97-AF65-F5344CB8AC3E}">
        <p14:creationId xmlns:p14="http://schemas.microsoft.com/office/powerpoint/2010/main" val="9066043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F6CC1-C36A-6263-9445-DCE9130CC9F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16DF62D-5028-B8CD-EAD8-A6C2B4233228}"/>
              </a:ext>
            </a:extLst>
          </p:cNvPr>
          <p:cNvSpPr>
            <a:spLocks noGrp="1"/>
          </p:cNvSpPr>
          <p:nvPr>
            <p:ph type="dt" sz="half" idx="10"/>
          </p:nvPr>
        </p:nvSpPr>
        <p:spPr/>
        <p:txBody>
          <a:bodyPr/>
          <a:lstStyle/>
          <a:p>
            <a:fld id="{71B6352D-72B3-466B-A027-C9C12242323D}" type="datetimeFigureOut">
              <a:rPr lang="en-US" smtClean="0"/>
              <a:t>5/11/2026</a:t>
            </a:fld>
            <a:endParaRPr lang="en-US"/>
          </a:p>
        </p:txBody>
      </p:sp>
      <p:sp>
        <p:nvSpPr>
          <p:cNvPr id="4" name="Footer Placeholder 3">
            <a:extLst>
              <a:ext uri="{FF2B5EF4-FFF2-40B4-BE49-F238E27FC236}">
                <a16:creationId xmlns:a16="http://schemas.microsoft.com/office/drawing/2014/main" id="{BFB8BABA-54B7-E334-A3E5-9698E005272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10269CE-D8D8-B9C5-8E16-74D099F6CE57}"/>
              </a:ext>
            </a:extLst>
          </p:cNvPr>
          <p:cNvSpPr>
            <a:spLocks noGrp="1"/>
          </p:cNvSpPr>
          <p:nvPr>
            <p:ph type="sldNum" sz="quarter" idx="12"/>
          </p:nvPr>
        </p:nvSpPr>
        <p:spPr/>
        <p:txBody>
          <a:bodyPr/>
          <a:lstStyle/>
          <a:p>
            <a:fld id="{BDA5375C-59F9-4923-B75D-1A3C4E4E5C53}" type="slidenum">
              <a:rPr lang="en-US" smtClean="0"/>
              <a:t>‹#›</a:t>
            </a:fld>
            <a:endParaRPr lang="en-US"/>
          </a:p>
        </p:txBody>
      </p:sp>
    </p:spTree>
    <p:extLst>
      <p:ext uri="{BB962C8B-B14F-4D97-AF65-F5344CB8AC3E}">
        <p14:creationId xmlns:p14="http://schemas.microsoft.com/office/powerpoint/2010/main" val="1785986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2B63AF3-C970-4BB3-9C53-C8FBAFFBF4CE}"/>
              </a:ext>
            </a:extLst>
          </p:cNvPr>
          <p:cNvSpPr>
            <a:spLocks noGrp="1"/>
          </p:cNvSpPr>
          <p:nvPr>
            <p:ph type="dt" sz="half" idx="10"/>
          </p:nvPr>
        </p:nvSpPr>
        <p:spPr/>
        <p:txBody>
          <a:bodyPr/>
          <a:lstStyle/>
          <a:p>
            <a:fld id="{71B6352D-72B3-466B-A027-C9C12242323D}" type="datetimeFigureOut">
              <a:rPr lang="en-US" smtClean="0"/>
              <a:t>5/11/2026</a:t>
            </a:fld>
            <a:endParaRPr lang="en-US"/>
          </a:p>
        </p:txBody>
      </p:sp>
      <p:sp>
        <p:nvSpPr>
          <p:cNvPr id="3" name="Footer Placeholder 2">
            <a:extLst>
              <a:ext uri="{FF2B5EF4-FFF2-40B4-BE49-F238E27FC236}">
                <a16:creationId xmlns:a16="http://schemas.microsoft.com/office/drawing/2014/main" id="{C6806BED-2137-B696-4360-405C01CE2F7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4C5A189-004B-CC04-6B2C-EF676D54C3C4}"/>
              </a:ext>
            </a:extLst>
          </p:cNvPr>
          <p:cNvSpPr>
            <a:spLocks noGrp="1"/>
          </p:cNvSpPr>
          <p:nvPr>
            <p:ph type="sldNum" sz="quarter" idx="12"/>
          </p:nvPr>
        </p:nvSpPr>
        <p:spPr/>
        <p:txBody>
          <a:bodyPr/>
          <a:lstStyle/>
          <a:p>
            <a:fld id="{BDA5375C-59F9-4923-B75D-1A3C4E4E5C53}" type="slidenum">
              <a:rPr lang="en-US" smtClean="0"/>
              <a:t>‹#›</a:t>
            </a:fld>
            <a:endParaRPr lang="en-US"/>
          </a:p>
        </p:txBody>
      </p:sp>
    </p:spTree>
    <p:extLst>
      <p:ext uri="{BB962C8B-B14F-4D97-AF65-F5344CB8AC3E}">
        <p14:creationId xmlns:p14="http://schemas.microsoft.com/office/powerpoint/2010/main" val="37904883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713ED-9F7D-D137-0624-614852CF39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4175FEF-6529-5AF1-006A-2D619163D3D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2FCFA33-7413-4C5A-0349-6D29F70E6D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D96B7C1-4E3A-9EC6-53EA-EEBA825D3D7F}"/>
              </a:ext>
            </a:extLst>
          </p:cNvPr>
          <p:cNvSpPr>
            <a:spLocks noGrp="1"/>
          </p:cNvSpPr>
          <p:nvPr>
            <p:ph type="dt" sz="half" idx="10"/>
          </p:nvPr>
        </p:nvSpPr>
        <p:spPr/>
        <p:txBody>
          <a:bodyPr/>
          <a:lstStyle/>
          <a:p>
            <a:fld id="{71B6352D-72B3-466B-A027-C9C12242323D}" type="datetimeFigureOut">
              <a:rPr lang="en-US" smtClean="0"/>
              <a:t>5/11/2026</a:t>
            </a:fld>
            <a:endParaRPr lang="en-US"/>
          </a:p>
        </p:txBody>
      </p:sp>
      <p:sp>
        <p:nvSpPr>
          <p:cNvPr id="6" name="Footer Placeholder 5">
            <a:extLst>
              <a:ext uri="{FF2B5EF4-FFF2-40B4-BE49-F238E27FC236}">
                <a16:creationId xmlns:a16="http://schemas.microsoft.com/office/drawing/2014/main" id="{491CD9AE-B8C3-7288-AB2D-EA192921E8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DFA9A8-14C1-D324-0BF0-FA99600119E7}"/>
              </a:ext>
            </a:extLst>
          </p:cNvPr>
          <p:cNvSpPr>
            <a:spLocks noGrp="1"/>
          </p:cNvSpPr>
          <p:nvPr>
            <p:ph type="sldNum" sz="quarter" idx="12"/>
          </p:nvPr>
        </p:nvSpPr>
        <p:spPr/>
        <p:txBody>
          <a:bodyPr/>
          <a:lstStyle/>
          <a:p>
            <a:fld id="{BDA5375C-59F9-4923-B75D-1A3C4E4E5C53}" type="slidenum">
              <a:rPr lang="en-US" smtClean="0"/>
              <a:t>‹#›</a:t>
            </a:fld>
            <a:endParaRPr lang="en-US"/>
          </a:p>
        </p:txBody>
      </p:sp>
    </p:spTree>
    <p:extLst>
      <p:ext uri="{BB962C8B-B14F-4D97-AF65-F5344CB8AC3E}">
        <p14:creationId xmlns:p14="http://schemas.microsoft.com/office/powerpoint/2010/main" val="10285060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F3193-6ED5-B1CB-8CC6-321B2980B7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9081100-7C2A-AD77-506C-27A579DF1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E8426BF-41ED-816F-7C0E-8A8C5F32FC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FC05307-36E9-AEB6-E59B-CB98D731BF95}"/>
              </a:ext>
            </a:extLst>
          </p:cNvPr>
          <p:cNvSpPr>
            <a:spLocks noGrp="1"/>
          </p:cNvSpPr>
          <p:nvPr>
            <p:ph type="dt" sz="half" idx="10"/>
          </p:nvPr>
        </p:nvSpPr>
        <p:spPr/>
        <p:txBody>
          <a:bodyPr/>
          <a:lstStyle/>
          <a:p>
            <a:fld id="{71B6352D-72B3-466B-A027-C9C12242323D}" type="datetimeFigureOut">
              <a:rPr lang="en-US" smtClean="0"/>
              <a:t>5/11/2026</a:t>
            </a:fld>
            <a:endParaRPr lang="en-US"/>
          </a:p>
        </p:txBody>
      </p:sp>
      <p:sp>
        <p:nvSpPr>
          <p:cNvPr id="6" name="Footer Placeholder 5">
            <a:extLst>
              <a:ext uri="{FF2B5EF4-FFF2-40B4-BE49-F238E27FC236}">
                <a16:creationId xmlns:a16="http://schemas.microsoft.com/office/drawing/2014/main" id="{D4D2711B-7B75-AB81-F133-446452D1590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6F518E9-3C24-4DBF-952F-36E4343F54B2}"/>
              </a:ext>
            </a:extLst>
          </p:cNvPr>
          <p:cNvSpPr>
            <a:spLocks noGrp="1"/>
          </p:cNvSpPr>
          <p:nvPr>
            <p:ph type="sldNum" sz="quarter" idx="12"/>
          </p:nvPr>
        </p:nvSpPr>
        <p:spPr/>
        <p:txBody>
          <a:bodyPr/>
          <a:lstStyle/>
          <a:p>
            <a:fld id="{BDA5375C-59F9-4923-B75D-1A3C4E4E5C53}" type="slidenum">
              <a:rPr lang="en-US" smtClean="0"/>
              <a:t>‹#›</a:t>
            </a:fld>
            <a:endParaRPr lang="en-US"/>
          </a:p>
        </p:txBody>
      </p:sp>
    </p:spTree>
    <p:extLst>
      <p:ext uri="{BB962C8B-B14F-4D97-AF65-F5344CB8AC3E}">
        <p14:creationId xmlns:p14="http://schemas.microsoft.com/office/powerpoint/2010/main" val="482827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9CF5F-4C9C-4435-1528-D93FF925368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5707B94-9353-31C7-8317-B83A05D90D0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82AC50-75E1-FEE7-D61A-11AEA8B7802F}"/>
              </a:ext>
            </a:extLst>
          </p:cNvPr>
          <p:cNvSpPr>
            <a:spLocks noGrp="1"/>
          </p:cNvSpPr>
          <p:nvPr>
            <p:ph type="dt" sz="half" idx="10"/>
          </p:nvPr>
        </p:nvSpPr>
        <p:spPr/>
        <p:txBody>
          <a:bodyPr/>
          <a:lstStyle/>
          <a:p>
            <a:fld id="{71B6352D-72B3-466B-A027-C9C12242323D}" type="datetimeFigureOut">
              <a:rPr lang="en-US" smtClean="0"/>
              <a:t>5/11/2026</a:t>
            </a:fld>
            <a:endParaRPr lang="en-US"/>
          </a:p>
        </p:txBody>
      </p:sp>
      <p:sp>
        <p:nvSpPr>
          <p:cNvPr id="5" name="Footer Placeholder 4">
            <a:extLst>
              <a:ext uri="{FF2B5EF4-FFF2-40B4-BE49-F238E27FC236}">
                <a16:creationId xmlns:a16="http://schemas.microsoft.com/office/drawing/2014/main" id="{5442D828-09C4-EE3E-8A9A-E488DC4E00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C1E271-0933-2EF1-AAC0-49A9730E215A}"/>
              </a:ext>
            </a:extLst>
          </p:cNvPr>
          <p:cNvSpPr>
            <a:spLocks noGrp="1"/>
          </p:cNvSpPr>
          <p:nvPr>
            <p:ph type="sldNum" sz="quarter" idx="12"/>
          </p:nvPr>
        </p:nvSpPr>
        <p:spPr/>
        <p:txBody>
          <a:bodyPr/>
          <a:lstStyle/>
          <a:p>
            <a:fld id="{BDA5375C-59F9-4923-B75D-1A3C4E4E5C53}" type="slidenum">
              <a:rPr lang="en-US" smtClean="0"/>
              <a:t>‹#›</a:t>
            </a:fld>
            <a:endParaRPr lang="en-US"/>
          </a:p>
        </p:txBody>
      </p:sp>
    </p:spTree>
    <p:extLst>
      <p:ext uri="{BB962C8B-B14F-4D97-AF65-F5344CB8AC3E}">
        <p14:creationId xmlns:p14="http://schemas.microsoft.com/office/powerpoint/2010/main" val="10438706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A43CABF-3AF4-38BC-CF84-4153E418A28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DA83211-07BD-2617-81B0-40CC681A524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0DA154-D860-E721-B9CB-3B7D354988DB}"/>
              </a:ext>
            </a:extLst>
          </p:cNvPr>
          <p:cNvSpPr>
            <a:spLocks noGrp="1"/>
          </p:cNvSpPr>
          <p:nvPr>
            <p:ph type="dt" sz="half" idx="10"/>
          </p:nvPr>
        </p:nvSpPr>
        <p:spPr/>
        <p:txBody>
          <a:bodyPr/>
          <a:lstStyle/>
          <a:p>
            <a:fld id="{71B6352D-72B3-466B-A027-C9C12242323D}" type="datetimeFigureOut">
              <a:rPr lang="en-US" smtClean="0"/>
              <a:t>5/11/2026</a:t>
            </a:fld>
            <a:endParaRPr lang="en-US"/>
          </a:p>
        </p:txBody>
      </p:sp>
      <p:sp>
        <p:nvSpPr>
          <p:cNvPr id="5" name="Footer Placeholder 4">
            <a:extLst>
              <a:ext uri="{FF2B5EF4-FFF2-40B4-BE49-F238E27FC236}">
                <a16:creationId xmlns:a16="http://schemas.microsoft.com/office/drawing/2014/main" id="{8A1359D3-1ED1-FD41-D16E-CD3975D8DD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1E7935-1840-838E-20B5-A23F384DD6DC}"/>
              </a:ext>
            </a:extLst>
          </p:cNvPr>
          <p:cNvSpPr>
            <a:spLocks noGrp="1"/>
          </p:cNvSpPr>
          <p:nvPr>
            <p:ph type="sldNum" sz="quarter" idx="12"/>
          </p:nvPr>
        </p:nvSpPr>
        <p:spPr/>
        <p:txBody>
          <a:bodyPr/>
          <a:lstStyle/>
          <a:p>
            <a:fld id="{BDA5375C-59F9-4923-B75D-1A3C4E4E5C53}" type="slidenum">
              <a:rPr lang="en-US" smtClean="0"/>
              <a:t>‹#›</a:t>
            </a:fld>
            <a:endParaRPr lang="en-US"/>
          </a:p>
        </p:txBody>
      </p:sp>
    </p:spTree>
    <p:extLst>
      <p:ext uri="{BB962C8B-B14F-4D97-AF65-F5344CB8AC3E}">
        <p14:creationId xmlns:p14="http://schemas.microsoft.com/office/powerpoint/2010/main" val="11406798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07E1D6E-37E1-E33A-7E8A-11D8475A390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E1D5862-D05B-FBEB-D554-7BB2A80184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4111F0-9D57-BF13-7597-1B1922FB47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B6352D-72B3-466B-A027-C9C12242323D}" type="datetimeFigureOut">
              <a:rPr lang="en-US" smtClean="0"/>
              <a:t>5/11/2026</a:t>
            </a:fld>
            <a:endParaRPr lang="en-US"/>
          </a:p>
        </p:txBody>
      </p:sp>
      <p:sp>
        <p:nvSpPr>
          <p:cNvPr id="5" name="Footer Placeholder 4">
            <a:extLst>
              <a:ext uri="{FF2B5EF4-FFF2-40B4-BE49-F238E27FC236}">
                <a16:creationId xmlns:a16="http://schemas.microsoft.com/office/drawing/2014/main" id="{A4C95BB5-4BAB-C601-3051-6383591149B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74F6F80-1CBC-B203-2C8C-13DF1FE406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A5375C-59F9-4923-B75D-1A3C4E4E5C53}" type="slidenum">
              <a:rPr lang="en-US" smtClean="0"/>
              <a:t>‹#›</a:t>
            </a:fld>
            <a:endParaRPr lang="en-US"/>
          </a:p>
        </p:txBody>
      </p:sp>
    </p:spTree>
    <p:extLst>
      <p:ext uri="{BB962C8B-B14F-4D97-AF65-F5344CB8AC3E}">
        <p14:creationId xmlns:p14="http://schemas.microsoft.com/office/powerpoint/2010/main" val="25711342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CCCCFF"/>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DFB50F5-B9FF-ED66-25C3-291365215696}"/>
              </a:ext>
            </a:extLst>
          </p:cNvPr>
          <p:cNvSpPr txBox="1"/>
          <p:nvPr/>
        </p:nvSpPr>
        <p:spPr>
          <a:xfrm>
            <a:off x="152399" y="241192"/>
            <a:ext cx="11887200" cy="2308324"/>
          </a:xfrm>
          <a:prstGeom prst="rect">
            <a:avLst/>
          </a:prstGeom>
          <a:noFill/>
        </p:spPr>
        <p:txBody>
          <a:bodyPr wrap="square">
            <a:spAutoFit/>
          </a:bodyPr>
          <a:lstStyle/>
          <a:p>
            <a:pPr algn="ctr"/>
            <a:r>
              <a:rPr kumimoji="0" lang="en-US" sz="4800" b="1" i="0" u="none" strike="noStrike" kern="1200" cap="none" spc="0" normalizeH="0" baseline="0" noProof="0" dirty="0">
                <a:ln>
                  <a:noFill/>
                </a:ln>
                <a:solidFill>
                  <a:srgbClr val="B00000"/>
                </a:solidFill>
                <a:effectLst/>
                <a:uLnTx/>
                <a:uFillTx/>
                <a:latin typeface="Times New Roman" panose="02020603050405020304" pitchFamily="18" charset="0"/>
                <a:ea typeface="+mn-ea"/>
                <a:cs typeface="Times New Roman" panose="02020603050405020304" pitchFamily="18" charset="0"/>
              </a:rPr>
              <a:t>Changing Election Outcomes:</a:t>
            </a:r>
          </a:p>
          <a:p>
            <a:pPr algn="ctr"/>
            <a:r>
              <a:rPr kumimoji="0" lang="en-US" sz="4800" b="1" i="0" u="none" strike="noStrike" kern="1200" cap="none" spc="0" normalizeH="0" baseline="0" noProof="0" dirty="0">
                <a:ln>
                  <a:noFill/>
                </a:ln>
                <a:solidFill>
                  <a:srgbClr val="B00000"/>
                </a:solidFill>
                <a:effectLst/>
                <a:uLnTx/>
                <a:uFillTx/>
                <a:latin typeface="Times New Roman" panose="02020603050405020304" pitchFamily="18" charset="0"/>
                <a:ea typeface="+mn-ea"/>
                <a:cs typeface="Times New Roman" panose="02020603050405020304" pitchFamily="18" charset="0"/>
              </a:rPr>
              <a:t> </a:t>
            </a:r>
            <a:r>
              <a:rPr lang="en-US" sz="4800" b="1" dirty="0">
                <a:solidFill>
                  <a:srgbClr val="B00000"/>
                </a:solidFill>
                <a:effectLst/>
                <a:latin typeface="Times New Roman" panose="02020603050405020304" pitchFamily="18" charset="0"/>
                <a:cs typeface="Times New Roman" panose="02020603050405020304" pitchFamily="18" charset="0"/>
              </a:rPr>
              <a:t>Comparing Electoral College Methods To The Popular Vote</a:t>
            </a:r>
            <a:endParaRPr lang="en-US" sz="48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B5F9A6E7-5F6A-2728-3DF7-C3F650579137}"/>
              </a:ext>
            </a:extLst>
          </p:cNvPr>
          <p:cNvSpPr txBox="1"/>
          <p:nvPr/>
        </p:nvSpPr>
        <p:spPr>
          <a:xfrm>
            <a:off x="2742009" y="6211669"/>
            <a:ext cx="6707981" cy="646331"/>
          </a:xfrm>
          <a:prstGeom prst="rect">
            <a:avLst/>
          </a:prstGeom>
          <a:noFill/>
        </p:spPr>
        <p:txBody>
          <a:bodyPr wrap="square" rtlCol="0">
            <a:spAutoFit/>
          </a:bodyPr>
          <a:lstStyle/>
          <a:p>
            <a:pPr algn="ctr"/>
            <a:r>
              <a:rPr lang="en-US" sz="3600" dirty="0">
                <a:solidFill>
                  <a:srgbClr val="0070C0"/>
                </a:solidFill>
                <a:latin typeface="Times New Roman" panose="02020603050405020304" pitchFamily="18" charset="0"/>
                <a:cs typeface="Times New Roman" panose="02020603050405020304" pitchFamily="18" charset="0"/>
              </a:rPr>
              <a:t>By James M. Halaz</a:t>
            </a:r>
          </a:p>
        </p:txBody>
      </p:sp>
      <p:pic>
        <p:nvPicPr>
          <p:cNvPr id="8" name="Picture 7">
            <a:extLst>
              <a:ext uri="{FF2B5EF4-FFF2-40B4-BE49-F238E27FC236}">
                <a16:creationId xmlns:a16="http://schemas.microsoft.com/office/drawing/2014/main" id="{CBAF0607-3528-4F49-0FBF-9678D082EB78}"/>
              </a:ext>
            </a:extLst>
          </p:cNvPr>
          <p:cNvPicPr>
            <a:picLocks noChangeAspect="1"/>
          </p:cNvPicPr>
          <p:nvPr/>
        </p:nvPicPr>
        <p:blipFill>
          <a:blip r:embed="rId2"/>
          <a:srcRect b="3520"/>
          <a:stretch>
            <a:fillRect/>
          </a:stretch>
        </p:blipFill>
        <p:spPr>
          <a:xfrm>
            <a:off x="2850565" y="2491037"/>
            <a:ext cx="6490868" cy="3779111"/>
          </a:xfrm>
          <a:prstGeom prst="rect">
            <a:avLst/>
          </a:prstGeom>
        </p:spPr>
      </p:pic>
    </p:spTree>
    <p:extLst>
      <p:ext uri="{BB962C8B-B14F-4D97-AF65-F5344CB8AC3E}">
        <p14:creationId xmlns:p14="http://schemas.microsoft.com/office/powerpoint/2010/main" val="22702736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FAD2788-5E22-383C-D303-65ED30E00995}"/>
              </a:ext>
            </a:extLst>
          </p:cNvPr>
          <p:cNvSpPr txBox="1"/>
          <p:nvPr/>
        </p:nvSpPr>
        <p:spPr>
          <a:xfrm>
            <a:off x="65971" y="223849"/>
            <a:ext cx="4972433" cy="5940088"/>
          </a:xfrm>
          <a:prstGeom prst="rect">
            <a:avLst/>
          </a:prstGeom>
          <a:noFill/>
        </p:spPr>
        <p:txBody>
          <a:bodyPr wrap="square">
            <a:spAutoFit/>
          </a:bodyPr>
          <a:lstStyle/>
          <a:p>
            <a:pPr>
              <a:buNone/>
            </a:pPr>
            <a:r>
              <a:rPr lang="en-US" sz="2000" dirty="0">
                <a:solidFill>
                  <a:srgbClr val="000000"/>
                </a:solidFill>
                <a:effectLst/>
                <a:latin typeface="Times New Roman" panose="02020603050405020304" pitchFamily="18" charset="0"/>
              </a:rPr>
              <a:t>In the current Electoral College, the candidate with the highest number of popular votes in a state obtains all the Electoral Votes for that state. </a:t>
            </a:r>
            <a:br>
              <a:rPr lang="en-US" sz="2000" dirty="0">
                <a:solidFill>
                  <a:srgbClr val="666666"/>
                </a:solidFill>
                <a:effectLst/>
                <a:latin typeface="Tableau Book"/>
              </a:rPr>
            </a:br>
            <a:endParaRPr lang="en-US" sz="2000" dirty="0">
              <a:solidFill>
                <a:srgbClr val="666666"/>
              </a:solidFill>
              <a:effectLst/>
              <a:latin typeface="Tableau Book"/>
            </a:endParaRPr>
          </a:p>
          <a:p>
            <a:pPr>
              <a:buNone/>
            </a:pPr>
            <a:r>
              <a:rPr lang="en-US" sz="2000" dirty="0">
                <a:solidFill>
                  <a:srgbClr val="000000"/>
                </a:solidFill>
                <a:effectLst/>
                <a:latin typeface="Times New Roman" panose="02020603050405020304" pitchFamily="18" charset="0"/>
              </a:rPr>
              <a:t>Each state and the District of Columbia is apportioned with at least one vote for each representative out of 436 and two votes for each senator. </a:t>
            </a:r>
            <a:br>
              <a:rPr lang="en-US" sz="2000" dirty="0">
                <a:solidFill>
                  <a:srgbClr val="666666"/>
                </a:solidFill>
                <a:effectLst/>
                <a:latin typeface="Tableau Book"/>
              </a:rPr>
            </a:br>
            <a:endParaRPr lang="en-US" sz="2000" dirty="0">
              <a:solidFill>
                <a:srgbClr val="666666"/>
              </a:solidFill>
              <a:effectLst/>
              <a:latin typeface="Tableau Book"/>
            </a:endParaRPr>
          </a:p>
          <a:p>
            <a:pPr>
              <a:buNone/>
            </a:pPr>
            <a:r>
              <a:rPr lang="en-US" sz="2000" dirty="0">
                <a:solidFill>
                  <a:srgbClr val="000000"/>
                </a:solidFill>
                <a:effectLst/>
                <a:latin typeface="Times New Roman" panose="02020603050405020304" pitchFamily="18" charset="0"/>
              </a:rPr>
              <a:t>The candidate who reaches 270 Electoral Votes, or over half the Electoral College Votes, becomes president.</a:t>
            </a:r>
            <a:br>
              <a:rPr lang="en-US" sz="2000" dirty="0">
                <a:solidFill>
                  <a:srgbClr val="666666"/>
                </a:solidFill>
                <a:effectLst/>
                <a:latin typeface="Tableau Book"/>
              </a:rPr>
            </a:br>
            <a:endParaRPr lang="en-US" sz="2000" dirty="0">
              <a:solidFill>
                <a:srgbClr val="666666"/>
              </a:solidFill>
              <a:effectLst/>
              <a:latin typeface="Tableau Book"/>
            </a:endParaRPr>
          </a:p>
          <a:p>
            <a:pPr>
              <a:buNone/>
            </a:pPr>
            <a:r>
              <a:rPr lang="en-US" sz="2000" dirty="0">
                <a:solidFill>
                  <a:srgbClr val="000000"/>
                </a:solidFill>
                <a:effectLst/>
                <a:latin typeface="Times New Roman" panose="02020603050405020304" pitchFamily="18" charset="0"/>
              </a:rPr>
              <a:t>However, it is important to note the states of Nebraska and Maine award the two senatorial votes to the plurality winner of the state and each representative vote to the popular vote winner of each Congressional District.</a:t>
            </a:r>
            <a:endParaRPr lang="en-US" sz="2000" dirty="0"/>
          </a:p>
        </p:txBody>
      </p:sp>
      <p:pic>
        <p:nvPicPr>
          <p:cNvPr id="7" name="Picture 6">
            <a:extLst>
              <a:ext uri="{FF2B5EF4-FFF2-40B4-BE49-F238E27FC236}">
                <a16:creationId xmlns:a16="http://schemas.microsoft.com/office/drawing/2014/main" id="{AAB8C390-0707-711B-5E04-683CC8A820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97726" y="0"/>
            <a:ext cx="7094274" cy="6858000"/>
          </a:xfrm>
          <a:prstGeom prst="rect">
            <a:avLst/>
          </a:prstGeom>
        </p:spPr>
      </p:pic>
    </p:spTree>
    <p:extLst>
      <p:ext uri="{BB962C8B-B14F-4D97-AF65-F5344CB8AC3E}">
        <p14:creationId xmlns:p14="http://schemas.microsoft.com/office/powerpoint/2010/main" val="2158940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7D538A3-7636-1BD3-B6A7-19FC117E2B3B}"/>
              </a:ext>
            </a:extLst>
          </p:cNvPr>
          <p:cNvSpPr txBox="1"/>
          <p:nvPr/>
        </p:nvSpPr>
        <p:spPr>
          <a:xfrm>
            <a:off x="270272" y="140376"/>
            <a:ext cx="11651456" cy="1200329"/>
          </a:xfrm>
          <a:prstGeom prst="rect">
            <a:avLst/>
          </a:prstGeom>
          <a:noFill/>
        </p:spPr>
        <p:txBody>
          <a:bodyPr wrap="square">
            <a:spAutoFit/>
          </a:bodyPr>
          <a:lstStyle/>
          <a:p>
            <a:pPr>
              <a:buNone/>
            </a:pPr>
            <a:r>
              <a:rPr lang="en-US" sz="2400" dirty="0">
                <a:solidFill>
                  <a:srgbClr val="FFFFFF"/>
                </a:solidFill>
                <a:effectLst/>
                <a:latin typeface="Times New Roman" panose="02020603050405020304" pitchFamily="18" charset="0"/>
                <a:cs typeface="Times New Roman" panose="02020603050405020304" pitchFamily="18" charset="0"/>
              </a:rPr>
              <a:t>Another important aspect to note is the US Constitution calls for at least one representative for every state, but no more than one representative for every 30,000 people.</a:t>
            </a:r>
            <a:endParaRPr lang="en-US" sz="2400" dirty="0">
              <a:effectLst/>
              <a:latin typeface="Times New Roman" panose="02020603050405020304" pitchFamily="18" charset="0"/>
              <a:cs typeface="Times New Roman" panose="02020603050405020304" pitchFamily="18" charset="0"/>
            </a:endParaRPr>
          </a:p>
          <a:p>
            <a:pPr>
              <a:buNone/>
            </a:pPr>
            <a:r>
              <a:rPr lang="en-US" sz="2400" dirty="0">
                <a:solidFill>
                  <a:srgbClr val="FFFFFF"/>
                </a:solidFill>
                <a:effectLst/>
                <a:latin typeface="Times New Roman" panose="02020603050405020304" pitchFamily="18" charset="0"/>
                <a:cs typeface="Times New Roman" panose="02020603050405020304" pitchFamily="18" charset="0"/>
              </a:rPr>
              <a:t>For the purposes of this analysis, this brings about two important questions:</a:t>
            </a:r>
            <a:endParaRPr lang="en-US" sz="24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8EFA3441-093B-7C6C-EBC5-D4985B7B8A86}"/>
              </a:ext>
            </a:extLst>
          </p:cNvPr>
          <p:cNvSpPr txBox="1"/>
          <p:nvPr/>
        </p:nvSpPr>
        <p:spPr>
          <a:xfrm>
            <a:off x="369094" y="1454645"/>
            <a:ext cx="5726906" cy="5262979"/>
          </a:xfrm>
          <a:prstGeom prst="rect">
            <a:avLst/>
          </a:prstGeom>
          <a:noFill/>
        </p:spPr>
        <p:txBody>
          <a:bodyPr wrap="square">
            <a:spAutoFit/>
          </a:bodyPr>
          <a:lstStyle/>
          <a:p>
            <a:pPr algn="ctr">
              <a:buNone/>
            </a:pPr>
            <a:r>
              <a:rPr lang="en-US" sz="2400" dirty="0">
                <a:solidFill>
                  <a:srgbClr val="FF0000"/>
                </a:solidFill>
                <a:effectLst/>
                <a:latin typeface="Times New Roman" panose="02020603050405020304" pitchFamily="18" charset="0"/>
                <a:cs typeface="Times New Roman" panose="02020603050405020304" pitchFamily="18" charset="0"/>
              </a:rPr>
              <a:t>Why is the number of representatives set to 435?</a:t>
            </a:r>
            <a:br>
              <a:rPr lang="en-US" sz="2400" dirty="0">
                <a:solidFill>
                  <a:srgbClr val="666666"/>
                </a:solidFill>
                <a:effectLst/>
                <a:latin typeface="Times New Roman" panose="02020603050405020304" pitchFamily="18" charset="0"/>
                <a:cs typeface="Times New Roman" panose="02020603050405020304" pitchFamily="18" charset="0"/>
              </a:rPr>
            </a:br>
            <a:endParaRPr lang="en-US" sz="2400" dirty="0">
              <a:solidFill>
                <a:srgbClr val="666666"/>
              </a:solidFill>
              <a:effectLst/>
              <a:latin typeface="Times New Roman" panose="02020603050405020304" pitchFamily="18" charset="0"/>
              <a:cs typeface="Times New Roman" panose="02020603050405020304" pitchFamily="18" charset="0"/>
            </a:endParaRPr>
          </a:p>
          <a:p>
            <a:pPr>
              <a:buNone/>
            </a:pPr>
            <a:r>
              <a:rPr lang="en-US" sz="2400" dirty="0">
                <a:solidFill>
                  <a:srgbClr val="3974FF"/>
                </a:solidFill>
                <a:effectLst/>
                <a:latin typeface="Times New Roman" panose="02020603050405020304" pitchFamily="18" charset="0"/>
                <a:cs typeface="Times New Roman" panose="02020603050405020304" pitchFamily="18" charset="0"/>
              </a:rPr>
              <a:t>The Permanent Apportionment Act of 1929 set the limit of 435 representatives by equating it to the 1910 US Census apportionment. This number was locked in place out of fears of the House of Representatives growing too large to conduct business properly. However, this decision has allowed the population for each representative to balloon to anywhere from 542,704 to 990,837 according to the 2020 US Census numbers</a:t>
            </a:r>
            <a:endParaRPr lang="en-US" sz="24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F55F9D8C-5659-2F0E-9140-44AAF839B6B6}"/>
              </a:ext>
            </a:extLst>
          </p:cNvPr>
          <p:cNvSpPr txBox="1"/>
          <p:nvPr/>
        </p:nvSpPr>
        <p:spPr>
          <a:xfrm>
            <a:off x="6265070" y="1528554"/>
            <a:ext cx="5726906" cy="4893647"/>
          </a:xfrm>
          <a:prstGeom prst="rect">
            <a:avLst/>
          </a:prstGeom>
          <a:noFill/>
        </p:spPr>
        <p:txBody>
          <a:bodyPr wrap="square">
            <a:spAutoFit/>
          </a:bodyPr>
          <a:lstStyle/>
          <a:p>
            <a:pPr algn="ctr">
              <a:buNone/>
            </a:pPr>
            <a:r>
              <a:rPr lang="en-US" sz="2400" dirty="0">
                <a:solidFill>
                  <a:srgbClr val="FF0000"/>
                </a:solidFill>
                <a:effectLst/>
                <a:latin typeface="Times New Roman" panose="02020603050405020304" pitchFamily="18" charset="0"/>
                <a:cs typeface="Times New Roman" panose="02020603050405020304" pitchFamily="18" charset="0"/>
              </a:rPr>
              <a:t>If the District of Columbia is not a state, why does it count in the Electoral College?</a:t>
            </a:r>
            <a:br>
              <a:rPr lang="en-US" sz="2400" dirty="0">
                <a:solidFill>
                  <a:srgbClr val="666666"/>
                </a:solidFill>
                <a:effectLst/>
                <a:latin typeface="Times New Roman" panose="02020603050405020304" pitchFamily="18" charset="0"/>
                <a:cs typeface="Times New Roman" panose="02020603050405020304" pitchFamily="18" charset="0"/>
              </a:rPr>
            </a:br>
            <a:endParaRPr lang="en-US" sz="2400" dirty="0">
              <a:solidFill>
                <a:srgbClr val="666666"/>
              </a:solidFill>
              <a:effectLst/>
              <a:latin typeface="Times New Roman" panose="02020603050405020304" pitchFamily="18" charset="0"/>
              <a:cs typeface="Times New Roman" panose="02020603050405020304" pitchFamily="18" charset="0"/>
            </a:endParaRPr>
          </a:p>
          <a:p>
            <a:pPr>
              <a:buNone/>
            </a:pPr>
            <a:r>
              <a:rPr lang="en-US" sz="2400" dirty="0">
                <a:solidFill>
                  <a:srgbClr val="3974FF"/>
                </a:solidFill>
                <a:effectLst/>
                <a:latin typeface="Times New Roman" panose="02020603050405020304" pitchFamily="18" charset="0"/>
                <a:cs typeface="Times New Roman" panose="02020603050405020304" pitchFamily="18" charset="0"/>
              </a:rPr>
              <a:t>The 23rd Amendment states "The District ... shall appoint … A number of electors ... equal to the whole number of Senators and Representatives in Congress to which the District would be entitled if it were a State, but in no event more than the least populous State; they shall be in addition to those appointed by the States, but they shall be considered … to be electors appointed by a State;"</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065201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FFD664-B15B-C0EC-6191-BDDE25B3923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3DE2753-690D-9673-300B-62AB03D91E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9418029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8DE5E3"/>
        </a:solidFill>
        <a:effectLst/>
      </p:bgPr>
    </p:bg>
    <p:spTree>
      <p:nvGrpSpPr>
        <p:cNvPr id="1" name="">
          <a:extLst>
            <a:ext uri="{FF2B5EF4-FFF2-40B4-BE49-F238E27FC236}">
              <a16:creationId xmlns:a16="http://schemas.microsoft.com/office/drawing/2014/main" id="{01E0CDE1-1DFA-3FC5-44B8-F11D2FC2453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B0B7BE9-3F1A-B9DE-5460-3752226FA0CF}"/>
              </a:ext>
            </a:extLst>
          </p:cNvPr>
          <p:cNvSpPr txBox="1"/>
          <p:nvPr/>
        </p:nvSpPr>
        <p:spPr>
          <a:xfrm>
            <a:off x="238125" y="256758"/>
            <a:ext cx="11715750" cy="5816977"/>
          </a:xfrm>
          <a:prstGeom prst="rect">
            <a:avLst/>
          </a:prstGeom>
          <a:noFill/>
        </p:spPr>
        <p:txBody>
          <a:bodyPr wrap="square">
            <a:spAutoFit/>
          </a:bodyPr>
          <a:lstStyle/>
          <a:p>
            <a:pPr algn="ctr">
              <a:buNone/>
            </a:pPr>
            <a:r>
              <a:rPr lang="en-US" sz="3600" b="1" dirty="0">
                <a:solidFill>
                  <a:srgbClr val="9000D8"/>
                </a:solidFill>
                <a:effectLst/>
                <a:latin typeface="Times New Roman" panose="02020603050405020304" pitchFamily="18" charset="0"/>
                <a:cs typeface="Times New Roman" panose="02020603050405020304" pitchFamily="18" charset="0"/>
              </a:rPr>
              <a:t>The Premise</a:t>
            </a:r>
            <a:endParaRPr lang="en-US" sz="3600" dirty="0">
              <a:effectLst/>
              <a:latin typeface="Times New Roman" panose="02020603050405020304" pitchFamily="18" charset="0"/>
              <a:cs typeface="Times New Roman" panose="02020603050405020304" pitchFamily="18" charset="0"/>
            </a:endParaRPr>
          </a:p>
          <a:p>
            <a:pPr algn="ctr">
              <a:buNone/>
            </a:pPr>
            <a:br>
              <a:rPr lang="en-US" sz="700" dirty="0">
                <a:solidFill>
                  <a:srgbClr val="666666"/>
                </a:solidFill>
                <a:effectLst/>
                <a:latin typeface="Times New Roman" panose="02020603050405020304" pitchFamily="18" charset="0"/>
                <a:cs typeface="Times New Roman" panose="02020603050405020304" pitchFamily="18" charset="0"/>
              </a:rPr>
            </a:br>
            <a:endParaRPr lang="en-US" sz="700" dirty="0">
              <a:solidFill>
                <a:srgbClr val="666666"/>
              </a:solidFill>
              <a:effectLst/>
              <a:latin typeface="Times New Roman" panose="02020603050405020304" pitchFamily="18" charset="0"/>
              <a:cs typeface="Times New Roman" panose="02020603050405020304" pitchFamily="18" charset="0"/>
            </a:endParaRPr>
          </a:p>
          <a:p>
            <a:pPr algn="ctr">
              <a:buNone/>
            </a:pPr>
            <a:endParaRPr lang="en-US" sz="700" dirty="0">
              <a:solidFill>
                <a:srgbClr val="666666"/>
              </a:solidFill>
              <a:latin typeface="Times New Roman" panose="02020603050405020304" pitchFamily="18" charset="0"/>
              <a:cs typeface="Times New Roman" panose="02020603050405020304" pitchFamily="18" charset="0"/>
            </a:endParaRPr>
          </a:p>
          <a:p>
            <a:pPr algn="ctr">
              <a:buNone/>
            </a:pPr>
            <a:endParaRPr lang="en-US" sz="700" dirty="0">
              <a:solidFill>
                <a:srgbClr val="666666"/>
              </a:solidFill>
              <a:effectLst/>
              <a:latin typeface="Times New Roman" panose="02020603050405020304" pitchFamily="18" charset="0"/>
              <a:cs typeface="Times New Roman" panose="02020603050405020304" pitchFamily="18" charset="0"/>
            </a:endParaRPr>
          </a:p>
          <a:p>
            <a:pPr>
              <a:buNone/>
            </a:pPr>
            <a:r>
              <a:rPr lang="en-US" sz="2800" dirty="0">
                <a:solidFill>
                  <a:srgbClr val="9000D8"/>
                </a:solidFill>
                <a:effectLst/>
                <a:latin typeface="Times New Roman" panose="02020603050405020304" pitchFamily="18" charset="0"/>
                <a:cs typeface="Times New Roman" panose="02020603050405020304" pitchFamily="18" charset="0"/>
              </a:rPr>
              <a:t>With these facts in mind, this project will attempt to investigate, how accurately, methods of awarding Electoral College Votes hold to the principles of representational government. Therefore, three methods of awarding Electoral College Votes will be tested with both the capped number of representatives and an uncapped number of representatives. To test this idea fully, as many representatives as possible will be given to each state, while still holding to the provision that there shall not be more than one representative for every 30,000 people. The standard for accuracy of representation will be awarding Electoral College Votes in percentages nearest to the popular vote percentage. In order to gauge the precision of these methods, each will be tested using the state voting numbers from the U.S. Presidential Elections in 2008, 2012, 2016, and 2020.</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071059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2D5B6B8-19C1-6948-6C59-A67EB16718B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293BA01-0667-8049-1647-82D642ACD811}"/>
              </a:ext>
            </a:extLst>
          </p:cNvPr>
          <p:cNvSpPr txBox="1"/>
          <p:nvPr/>
        </p:nvSpPr>
        <p:spPr>
          <a:xfrm>
            <a:off x="291247" y="2437856"/>
            <a:ext cx="7152541" cy="3970318"/>
          </a:xfrm>
          <a:prstGeom prst="rect">
            <a:avLst/>
          </a:prstGeom>
          <a:noFill/>
        </p:spPr>
        <p:txBody>
          <a:bodyPr wrap="square">
            <a:spAutoFit/>
          </a:bodyPr>
          <a:lstStyle/>
          <a:p>
            <a:pPr algn="ctr">
              <a:buNone/>
            </a:pPr>
            <a:r>
              <a:rPr lang="en-US" sz="2800" b="1" dirty="0">
                <a:solidFill>
                  <a:srgbClr val="FFFFFF"/>
                </a:solidFill>
                <a:effectLst/>
                <a:latin typeface="Times New Roman" panose="02020603050405020304" pitchFamily="18" charset="0"/>
              </a:rPr>
              <a:t>Methods</a:t>
            </a:r>
          </a:p>
          <a:p>
            <a:pPr algn="ctr">
              <a:buNone/>
            </a:pPr>
            <a:endParaRPr lang="en-US" sz="2400" dirty="0">
              <a:effectLst/>
            </a:endParaRPr>
          </a:p>
          <a:p>
            <a:pPr>
              <a:buNone/>
            </a:pPr>
            <a:r>
              <a:rPr lang="en-US" sz="2000" dirty="0">
                <a:solidFill>
                  <a:srgbClr val="53C9FF"/>
                </a:solidFill>
                <a:effectLst/>
                <a:latin typeface="Times New Roman" panose="02020603050405020304" pitchFamily="18" charset="0"/>
                <a:cs typeface="Times New Roman" panose="02020603050405020304" pitchFamily="18" charset="0"/>
              </a:rPr>
              <a:t>- </a:t>
            </a:r>
            <a:r>
              <a:rPr lang="en-US" sz="2000" b="1" dirty="0">
                <a:solidFill>
                  <a:srgbClr val="53C9FF"/>
                </a:solidFill>
                <a:effectLst/>
                <a:latin typeface="Times New Roman" panose="02020603050405020304" pitchFamily="18" charset="0"/>
                <a:cs typeface="Times New Roman" panose="02020603050405020304" pitchFamily="18" charset="0"/>
              </a:rPr>
              <a:t>Winner Take All</a:t>
            </a:r>
            <a:r>
              <a:rPr lang="en-US" sz="2000" dirty="0">
                <a:solidFill>
                  <a:srgbClr val="53C9FF"/>
                </a:solidFill>
                <a:effectLst/>
                <a:latin typeface="Times New Roman" panose="02020603050405020304" pitchFamily="18" charset="0"/>
                <a:cs typeface="Times New Roman" panose="02020603050405020304" pitchFamily="18" charset="0"/>
              </a:rPr>
              <a:t> - State's highest popular vote candidate awarded all of the State's Electoral College Votes</a:t>
            </a:r>
            <a:endParaRPr lang="en-US" sz="2000" dirty="0">
              <a:effectLst/>
              <a:latin typeface="Times New Roman" panose="02020603050405020304" pitchFamily="18" charset="0"/>
              <a:cs typeface="Times New Roman" panose="02020603050405020304" pitchFamily="18" charset="0"/>
            </a:endParaRPr>
          </a:p>
          <a:p>
            <a:pPr>
              <a:buNone/>
            </a:pPr>
            <a:endParaRPr lang="en-US" sz="2000" dirty="0">
              <a:solidFill>
                <a:srgbClr val="666666"/>
              </a:solidFill>
              <a:effectLst/>
              <a:latin typeface="Times New Roman" panose="02020603050405020304" pitchFamily="18" charset="0"/>
              <a:cs typeface="Times New Roman" panose="02020603050405020304" pitchFamily="18" charset="0"/>
            </a:endParaRPr>
          </a:p>
          <a:p>
            <a:pPr>
              <a:buNone/>
            </a:pPr>
            <a:r>
              <a:rPr lang="en-US" sz="2000" dirty="0">
                <a:solidFill>
                  <a:srgbClr val="F17B79"/>
                </a:solidFill>
                <a:effectLst/>
                <a:latin typeface="Times New Roman" panose="02020603050405020304" pitchFamily="18" charset="0"/>
                <a:cs typeface="Times New Roman" panose="02020603050405020304" pitchFamily="18" charset="0"/>
              </a:rPr>
              <a:t>- </a:t>
            </a:r>
            <a:r>
              <a:rPr lang="en-US" sz="2000" b="1" dirty="0">
                <a:solidFill>
                  <a:srgbClr val="F17B79"/>
                </a:solidFill>
                <a:effectLst/>
                <a:latin typeface="Times New Roman" panose="02020603050405020304" pitchFamily="18" charset="0"/>
                <a:cs typeface="Times New Roman" panose="02020603050405020304" pitchFamily="18" charset="0"/>
              </a:rPr>
              <a:t>Full Divide</a:t>
            </a:r>
            <a:r>
              <a:rPr lang="en-US" sz="2000" dirty="0">
                <a:solidFill>
                  <a:srgbClr val="F17B79"/>
                </a:solidFill>
                <a:effectLst/>
                <a:latin typeface="Times New Roman" panose="02020603050405020304" pitchFamily="18" charset="0"/>
                <a:cs typeface="Times New Roman" panose="02020603050405020304" pitchFamily="18" charset="0"/>
              </a:rPr>
              <a:t> - State's Electoral College Votes are awarded by</a:t>
            </a:r>
            <a:r>
              <a:rPr lang="en-US" sz="2000" dirty="0">
                <a:solidFill>
                  <a:srgbClr val="F17B79"/>
                </a:solidFill>
                <a:latin typeface="Times New Roman" panose="02020603050405020304" pitchFamily="18" charset="0"/>
                <a:cs typeface="Times New Roman" panose="02020603050405020304" pitchFamily="18" charset="0"/>
              </a:rPr>
              <a:t> the</a:t>
            </a:r>
            <a:r>
              <a:rPr lang="en-US" sz="2000" dirty="0">
                <a:solidFill>
                  <a:srgbClr val="F17B79"/>
                </a:solidFill>
                <a:effectLst/>
                <a:latin typeface="Times New Roman" panose="02020603050405020304" pitchFamily="18" charset="0"/>
                <a:cs typeface="Times New Roman" panose="02020603050405020304" pitchFamily="18" charset="0"/>
              </a:rPr>
              <a:t> </a:t>
            </a:r>
            <a:r>
              <a:rPr lang="en-US" sz="2000" dirty="0">
                <a:solidFill>
                  <a:srgbClr val="F17B79"/>
                </a:solidFill>
                <a:latin typeface="Times New Roman" panose="02020603050405020304" pitchFamily="18" charset="0"/>
                <a:cs typeface="Times New Roman" panose="02020603050405020304" pitchFamily="18" charset="0"/>
              </a:rPr>
              <a:t>proportion </a:t>
            </a:r>
            <a:r>
              <a:rPr lang="en-US" sz="2000" dirty="0">
                <a:solidFill>
                  <a:srgbClr val="F17B79"/>
                </a:solidFill>
                <a:effectLst/>
                <a:latin typeface="Times New Roman" panose="02020603050405020304" pitchFamily="18" charset="0"/>
                <a:cs typeface="Times New Roman" panose="02020603050405020304" pitchFamily="18" charset="0"/>
              </a:rPr>
              <a:t>of popular votes for each candidate</a:t>
            </a:r>
            <a:endParaRPr lang="en-US" sz="2000" dirty="0">
              <a:effectLst/>
              <a:latin typeface="Times New Roman" panose="02020603050405020304" pitchFamily="18" charset="0"/>
              <a:cs typeface="Times New Roman" panose="02020603050405020304" pitchFamily="18" charset="0"/>
            </a:endParaRPr>
          </a:p>
          <a:p>
            <a:pPr>
              <a:buNone/>
            </a:pPr>
            <a:endParaRPr lang="en-US" sz="2000" dirty="0">
              <a:solidFill>
                <a:srgbClr val="666666"/>
              </a:solidFill>
              <a:effectLst/>
              <a:latin typeface="Times New Roman" panose="02020603050405020304" pitchFamily="18" charset="0"/>
              <a:cs typeface="Times New Roman" panose="02020603050405020304" pitchFamily="18" charset="0"/>
            </a:endParaRPr>
          </a:p>
          <a:p>
            <a:pPr>
              <a:buNone/>
            </a:pPr>
            <a:r>
              <a:rPr lang="en-US" sz="2000" dirty="0">
                <a:solidFill>
                  <a:srgbClr val="C7BCFF"/>
                </a:solidFill>
                <a:effectLst/>
                <a:latin typeface="Times New Roman" panose="02020603050405020304" pitchFamily="18" charset="0"/>
                <a:cs typeface="Times New Roman" panose="02020603050405020304" pitchFamily="18" charset="0"/>
              </a:rPr>
              <a:t>- </a:t>
            </a:r>
            <a:r>
              <a:rPr lang="en-US" sz="2000" b="1" dirty="0">
                <a:solidFill>
                  <a:srgbClr val="C7BCFF"/>
                </a:solidFill>
                <a:effectLst/>
                <a:latin typeface="Times New Roman" panose="02020603050405020304" pitchFamily="18" charset="0"/>
                <a:cs typeface="Times New Roman" panose="02020603050405020304" pitchFamily="18" charset="0"/>
              </a:rPr>
              <a:t>Nebraska-like System</a:t>
            </a:r>
            <a:r>
              <a:rPr lang="en-US" sz="2000" dirty="0">
                <a:solidFill>
                  <a:srgbClr val="C7BCFF"/>
                </a:solidFill>
                <a:effectLst/>
                <a:latin typeface="Times New Roman" panose="02020603050405020304" pitchFamily="18" charset="0"/>
                <a:cs typeface="Times New Roman" panose="02020603050405020304" pitchFamily="18" charset="0"/>
              </a:rPr>
              <a:t> – </a:t>
            </a:r>
            <a:r>
              <a:rPr lang="en-US" sz="2000" dirty="0">
                <a:solidFill>
                  <a:srgbClr val="C7BCFF"/>
                </a:solidFill>
                <a:latin typeface="Times New Roman" panose="02020603050405020304" pitchFamily="18" charset="0"/>
                <a:cs typeface="Times New Roman" panose="02020603050405020304" pitchFamily="18" charset="0"/>
              </a:rPr>
              <a:t>A s</a:t>
            </a:r>
            <a:r>
              <a:rPr lang="en-US" sz="2000" dirty="0">
                <a:solidFill>
                  <a:srgbClr val="C7BCFF"/>
                </a:solidFill>
                <a:effectLst/>
                <a:latin typeface="Times New Roman" panose="02020603050405020304" pitchFamily="18" charset="0"/>
                <a:cs typeface="Times New Roman" panose="02020603050405020304" pitchFamily="18" charset="0"/>
              </a:rPr>
              <a:t>tate's Representative Electoral College Votes are awarded by the proportion of popular votes for each candidate. However, </a:t>
            </a:r>
            <a:r>
              <a:rPr lang="en-US" sz="2000" dirty="0">
                <a:solidFill>
                  <a:srgbClr val="C7BCFF"/>
                </a:solidFill>
                <a:latin typeface="Times New Roman" panose="02020603050405020304" pitchFamily="18" charset="0"/>
                <a:cs typeface="Times New Roman" panose="02020603050405020304" pitchFamily="18" charset="0"/>
              </a:rPr>
              <a:t>a s</a:t>
            </a:r>
            <a:r>
              <a:rPr lang="en-US" sz="2000" dirty="0">
                <a:solidFill>
                  <a:srgbClr val="C7BCFF"/>
                </a:solidFill>
                <a:effectLst/>
                <a:latin typeface="Times New Roman" panose="02020603050405020304" pitchFamily="18" charset="0"/>
                <a:cs typeface="Times New Roman" panose="02020603050405020304" pitchFamily="18" charset="0"/>
              </a:rPr>
              <a:t>tate's Senatorial Electoral College Votes</a:t>
            </a:r>
            <a:r>
              <a:rPr lang="en-US" sz="2000" dirty="0">
                <a:solidFill>
                  <a:srgbClr val="C7BCFF"/>
                </a:solidFill>
                <a:latin typeface="Times New Roman" panose="02020603050405020304" pitchFamily="18" charset="0"/>
                <a:cs typeface="Times New Roman" panose="02020603050405020304" pitchFamily="18" charset="0"/>
              </a:rPr>
              <a:t> are</a:t>
            </a:r>
            <a:r>
              <a:rPr lang="en-US" sz="2000" dirty="0">
                <a:solidFill>
                  <a:srgbClr val="C7BCFF"/>
                </a:solidFill>
                <a:effectLst/>
                <a:latin typeface="Times New Roman" panose="02020603050405020304" pitchFamily="18" charset="0"/>
                <a:cs typeface="Times New Roman" panose="02020603050405020304" pitchFamily="18" charset="0"/>
              </a:rPr>
              <a:t> awarded to the highest popular vote candidate</a:t>
            </a:r>
            <a:endParaRPr lang="en-US" sz="20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946422A8-4BFC-D315-6569-F630556B2835}"/>
              </a:ext>
            </a:extLst>
          </p:cNvPr>
          <p:cNvSpPr txBox="1"/>
          <p:nvPr/>
        </p:nvSpPr>
        <p:spPr>
          <a:xfrm>
            <a:off x="7807431" y="2622522"/>
            <a:ext cx="4093322" cy="3785652"/>
          </a:xfrm>
          <a:prstGeom prst="rect">
            <a:avLst/>
          </a:prstGeom>
          <a:noFill/>
        </p:spPr>
        <p:txBody>
          <a:bodyPr wrap="square">
            <a:spAutoFit/>
          </a:bodyPr>
          <a:lstStyle/>
          <a:p>
            <a:pPr>
              <a:buNone/>
            </a:pPr>
            <a:r>
              <a:rPr lang="en-US" sz="2000" dirty="0">
                <a:solidFill>
                  <a:srgbClr val="544EFF"/>
                </a:solidFill>
                <a:effectLst/>
                <a:latin typeface="Times New Roman" panose="02020603050405020304" pitchFamily="18" charset="0"/>
                <a:cs typeface="Times New Roman" panose="02020603050405020304" pitchFamily="18" charset="0"/>
              </a:rPr>
              <a:t>Total Popular Votes = 48</a:t>
            </a:r>
            <a:br>
              <a:rPr lang="en-US" sz="2000" dirty="0">
                <a:solidFill>
                  <a:srgbClr val="666666"/>
                </a:solidFill>
                <a:effectLst/>
                <a:latin typeface="Times New Roman" panose="02020603050405020304" pitchFamily="18" charset="0"/>
                <a:cs typeface="Times New Roman" panose="02020603050405020304" pitchFamily="18" charset="0"/>
              </a:rPr>
            </a:br>
            <a:endParaRPr lang="en-US" sz="2000" dirty="0">
              <a:solidFill>
                <a:srgbClr val="666666"/>
              </a:solidFill>
              <a:effectLst/>
              <a:latin typeface="Times New Roman" panose="02020603050405020304" pitchFamily="18" charset="0"/>
              <a:cs typeface="Times New Roman" panose="02020603050405020304" pitchFamily="18" charset="0"/>
            </a:endParaRPr>
          </a:p>
          <a:p>
            <a:pPr>
              <a:buNone/>
            </a:pPr>
            <a:r>
              <a:rPr lang="en-US" sz="2000" dirty="0">
                <a:solidFill>
                  <a:srgbClr val="00AAFF"/>
                </a:solidFill>
                <a:effectLst/>
                <a:latin typeface="Times New Roman" panose="02020603050405020304" pitchFamily="18" charset="0"/>
                <a:cs typeface="Times New Roman" panose="02020603050405020304" pitchFamily="18" charset="0"/>
              </a:rPr>
              <a:t>Total Number of EC Votes = 6</a:t>
            </a:r>
            <a:br>
              <a:rPr lang="en-US" sz="2000" dirty="0">
                <a:solidFill>
                  <a:srgbClr val="666666"/>
                </a:solidFill>
                <a:effectLst/>
                <a:latin typeface="Times New Roman" panose="02020603050405020304" pitchFamily="18" charset="0"/>
                <a:cs typeface="Times New Roman" panose="02020603050405020304" pitchFamily="18" charset="0"/>
              </a:rPr>
            </a:br>
            <a:endParaRPr lang="en-US" sz="2000" dirty="0">
              <a:solidFill>
                <a:srgbClr val="666666"/>
              </a:solidFill>
              <a:effectLst/>
              <a:latin typeface="Times New Roman" panose="02020603050405020304" pitchFamily="18" charset="0"/>
              <a:cs typeface="Times New Roman" panose="02020603050405020304" pitchFamily="18" charset="0"/>
            </a:endParaRPr>
          </a:p>
          <a:p>
            <a:pPr>
              <a:buNone/>
            </a:pPr>
            <a:r>
              <a:rPr lang="en-US" sz="2000" dirty="0">
                <a:solidFill>
                  <a:srgbClr val="73FFF6"/>
                </a:solidFill>
                <a:effectLst/>
                <a:latin typeface="Times New Roman" panose="02020603050405020304" pitchFamily="18" charset="0"/>
                <a:cs typeface="Times New Roman" panose="02020603050405020304" pitchFamily="18" charset="0"/>
              </a:rPr>
              <a:t>- Number of Representatives = 4</a:t>
            </a:r>
            <a:endParaRPr lang="en-US" sz="2000" dirty="0">
              <a:effectLst/>
              <a:latin typeface="Times New Roman" panose="02020603050405020304" pitchFamily="18" charset="0"/>
              <a:cs typeface="Times New Roman" panose="02020603050405020304" pitchFamily="18" charset="0"/>
            </a:endParaRPr>
          </a:p>
          <a:p>
            <a:pPr>
              <a:buNone/>
            </a:pPr>
            <a:r>
              <a:rPr lang="en-US" sz="2000" dirty="0">
                <a:solidFill>
                  <a:srgbClr val="C5F7FF"/>
                </a:solidFill>
                <a:effectLst/>
                <a:latin typeface="Times New Roman" panose="02020603050405020304" pitchFamily="18" charset="0"/>
                <a:cs typeface="Times New Roman" panose="02020603050405020304" pitchFamily="18" charset="0"/>
              </a:rPr>
              <a:t>- Number of Senators = 2</a:t>
            </a:r>
            <a:endParaRPr lang="en-US" sz="2000" dirty="0">
              <a:effectLst/>
              <a:latin typeface="Times New Roman" panose="02020603050405020304" pitchFamily="18" charset="0"/>
              <a:cs typeface="Times New Roman" panose="02020603050405020304" pitchFamily="18" charset="0"/>
            </a:endParaRPr>
          </a:p>
          <a:p>
            <a:pPr>
              <a:buNone/>
            </a:pPr>
            <a:endParaRPr lang="en-US" sz="2000" dirty="0">
              <a:solidFill>
                <a:srgbClr val="666666"/>
              </a:solidFill>
              <a:effectLst/>
              <a:latin typeface="Times New Roman" panose="02020603050405020304" pitchFamily="18" charset="0"/>
              <a:cs typeface="Times New Roman" panose="02020603050405020304" pitchFamily="18" charset="0"/>
            </a:endParaRPr>
          </a:p>
          <a:p>
            <a:pPr>
              <a:buNone/>
            </a:pPr>
            <a:r>
              <a:rPr lang="en-US" sz="2000" dirty="0">
                <a:solidFill>
                  <a:srgbClr val="F28E2B"/>
                </a:solidFill>
                <a:effectLst/>
                <a:latin typeface="Times New Roman" panose="02020603050405020304" pitchFamily="18" charset="0"/>
                <a:cs typeface="Times New Roman" panose="02020603050405020304" pitchFamily="18" charset="0"/>
              </a:rPr>
              <a:t>Candidate A popular votes = 22</a:t>
            </a:r>
            <a:br>
              <a:rPr lang="en-US" sz="2000" dirty="0">
                <a:solidFill>
                  <a:srgbClr val="666666"/>
                </a:solidFill>
                <a:effectLst/>
                <a:latin typeface="Times New Roman" panose="02020603050405020304" pitchFamily="18" charset="0"/>
                <a:cs typeface="Times New Roman" panose="02020603050405020304" pitchFamily="18" charset="0"/>
              </a:rPr>
            </a:br>
            <a:endParaRPr lang="en-US" sz="2000" dirty="0">
              <a:solidFill>
                <a:srgbClr val="666666"/>
              </a:solidFill>
              <a:effectLst/>
              <a:latin typeface="Times New Roman" panose="02020603050405020304" pitchFamily="18" charset="0"/>
              <a:cs typeface="Times New Roman" panose="02020603050405020304" pitchFamily="18" charset="0"/>
            </a:endParaRPr>
          </a:p>
          <a:p>
            <a:pPr>
              <a:buNone/>
            </a:pPr>
            <a:r>
              <a:rPr lang="en-US" sz="2000" dirty="0">
                <a:solidFill>
                  <a:srgbClr val="1DFF30"/>
                </a:solidFill>
                <a:effectLst/>
                <a:latin typeface="Times New Roman" panose="02020603050405020304" pitchFamily="18" charset="0"/>
                <a:cs typeface="Times New Roman" panose="02020603050405020304" pitchFamily="18" charset="0"/>
              </a:rPr>
              <a:t>Candidate B popular votes = 8</a:t>
            </a:r>
            <a:endParaRPr lang="en-US" sz="2000" dirty="0">
              <a:effectLst/>
              <a:latin typeface="Times New Roman" panose="02020603050405020304" pitchFamily="18" charset="0"/>
              <a:cs typeface="Times New Roman" panose="02020603050405020304" pitchFamily="18" charset="0"/>
            </a:endParaRPr>
          </a:p>
          <a:p>
            <a:pPr>
              <a:buNone/>
            </a:pPr>
            <a:endParaRPr lang="en-US" sz="2000" dirty="0">
              <a:solidFill>
                <a:srgbClr val="666666"/>
              </a:solidFill>
              <a:effectLst/>
              <a:latin typeface="Times New Roman" panose="02020603050405020304" pitchFamily="18" charset="0"/>
              <a:cs typeface="Times New Roman" panose="02020603050405020304" pitchFamily="18" charset="0"/>
            </a:endParaRPr>
          </a:p>
          <a:p>
            <a:pPr>
              <a:buNone/>
            </a:pPr>
            <a:r>
              <a:rPr lang="en-US" sz="2000" dirty="0">
                <a:solidFill>
                  <a:srgbClr val="D37295"/>
                </a:solidFill>
                <a:effectLst/>
                <a:latin typeface="Times New Roman" panose="02020603050405020304" pitchFamily="18" charset="0"/>
                <a:cs typeface="Times New Roman" panose="02020603050405020304" pitchFamily="18" charset="0"/>
              </a:rPr>
              <a:t>Candidate C popular votes = 18</a:t>
            </a:r>
            <a:endParaRPr lang="en-US" sz="2000" dirty="0">
              <a:effectLst/>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71400C72-F9A0-6D7F-D1E5-5C2FE2762E9E}"/>
              </a:ext>
            </a:extLst>
          </p:cNvPr>
          <p:cNvSpPr txBox="1"/>
          <p:nvPr/>
        </p:nvSpPr>
        <p:spPr>
          <a:xfrm>
            <a:off x="176945" y="725317"/>
            <a:ext cx="11831697" cy="1631216"/>
          </a:xfrm>
          <a:prstGeom prst="rect">
            <a:avLst/>
          </a:prstGeom>
          <a:noFill/>
        </p:spPr>
        <p:txBody>
          <a:bodyPr wrap="square">
            <a:spAutoFit/>
          </a:bodyPr>
          <a:lstStyle/>
          <a:p>
            <a:r>
              <a:rPr lang="en-US" sz="2000" dirty="0">
                <a:solidFill>
                  <a:srgbClr val="FFFFFF"/>
                </a:solidFill>
                <a:effectLst/>
                <a:latin typeface="Times New Roman" panose="02020603050405020304" pitchFamily="18" charset="0"/>
              </a:rPr>
              <a:t>As the methods of awarding Electoral Votes can be complicated, a model state has been created to demonstrate the full process in simplified form. In order to highlight the similarities and differences in awarding Electoral College Votes among methods, the comparable steps of each method will be demonstrated in juxtaposition. The necessary analytical characteristics of the imagined state are listed below along with the names of the three methods to be demonstrated.</a:t>
            </a:r>
            <a:endParaRPr lang="en-US" sz="2000" dirty="0"/>
          </a:p>
        </p:txBody>
      </p:sp>
      <p:sp>
        <p:nvSpPr>
          <p:cNvPr id="8" name="TextBox 7">
            <a:extLst>
              <a:ext uri="{FF2B5EF4-FFF2-40B4-BE49-F238E27FC236}">
                <a16:creationId xmlns:a16="http://schemas.microsoft.com/office/drawing/2014/main" id="{BAC72E41-27ED-D472-2CC0-8E7EC4B82385}"/>
              </a:ext>
            </a:extLst>
          </p:cNvPr>
          <p:cNvSpPr txBox="1"/>
          <p:nvPr/>
        </p:nvSpPr>
        <p:spPr>
          <a:xfrm>
            <a:off x="3667947" y="59219"/>
            <a:ext cx="4849695" cy="584775"/>
          </a:xfrm>
          <a:prstGeom prst="rect">
            <a:avLst/>
          </a:prstGeom>
          <a:noFill/>
        </p:spPr>
        <p:txBody>
          <a:bodyPr wrap="square">
            <a:spAutoFit/>
          </a:bodyPr>
          <a:lstStyle/>
          <a:p>
            <a:r>
              <a:rPr lang="en-US" sz="3200" b="1" dirty="0">
                <a:solidFill>
                  <a:srgbClr val="FFFFFF"/>
                </a:solidFill>
                <a:effectLst/>
                <a:latin typeface="Times New Roman" panose="02020603050405020304" pitchFamily="18" charset="0"/>
              </a:rPr>
              <a:t>The State of Simplicity</a:t>
            </a:r>
            <a:endParaRPr lang="en-US" sz="3200" dirty="0"/>
          </a:p>
        </p:txBody>
      </p:sp>
    </p:spTree>
    <p:extLst>
      <p:ext uri="{BB962C8B-B14F-4D97-AF65-F5344CB8AC3E}">
        <p14:creationId xmlns:p14="http://schemas.microsoft.com/office/powerpoint/2010/main" val="17505603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6741676D-C009-3C3D-B796-44CF35C8115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10D12AE-E139-92F3-F655-C8B6F8886862}"/>
              </a:ext>
            </a:extLst>
          </p:cNvPr>
          <p:cNvSpPr txBox="1"/>
          <p:nvPr/>
        </p:nvSpPr>
        <p:spPr>
          <a:xfrm>
            <a:off x="211931" y="115818"/>
            <a:ext cx="11980069" cy="1569660"/>
          </a:xfrm>
          <a:prstGeom prst="rect">
            <a:avLst/>
          </a:prstGeom>
          <a:noFill/>
        </p:spPr>
        <p:txBody>
          <a:bodyPr wrap="square">
            <a:spAutoFit/>
          </a:bodyPr>
          <a:lstStyle/>
          <a:p>
            <a:r>
              <a:rPr lang="en-US" sz="2400" dirty="0">
                <a:solidFill>
                  <a:srgbClr val="FFFFFF"/>
                </a:solidFill>
                <a:effectLst/>
                <a:latin typeface="Times New Roman" panose="02020603050405020304" pitchFamily="18" charset="0"/>
              </a:rPr>
              <a:t>The first steps in the Full Divide and Nebraska-like systems are to divide the total number of popular votes by the state's number of Electoral College Votes or Representative Electoral College Votes. The result, referred to as the Electoral Vote Population in each respective method, will then be used to divide the candidates' popular votes to award Electoral College Votes.</a:t>
            </a:r>
            <a:endParaRPr lang="en-US" sz="2400" dirty="0"/>
          </a:p>
        </p:txBody>
      </p:sp>
      <p:sp>
        <p:nvSpPr>
          <p:cNvPr id="5" name="TextBox 4">
            <a:extLst>
              <a:ext uri="{FF2B5EF4-FFF2-40B4-BE49-F238E27FC236}">
                <a16:creationId xmlns:a16="http://schemas.microsoft.com/office/drawing/2014/main" id="{5E58AB5F-62F3-38B8-BDE6-F617C8286258}"/>
              </a:ext>
            </a:extLst>
          </p:cNvPr>
          <p:cNvSpPr txBox="1"/>
          <p:nvPr/>
        </p:nvSpPr>
        <p:spPr>
          <a:xfrm>
            <a:off x="323848" y="1992659"/>
            <a:ext cx="3336131" cy="3970318"/>
          </a:xfrm>
          <a:prstGeom prst="rect">
            <a:avLst/>
          </a:prstGeom>
          <a:noFill/>
        </p:spPr>
        <p:txBody>
          <a:bodyPr wrap="square">
            <a:spAutoFit/>
          </a:bodyPr>
          <a:lstStyle/>
          <a:p>
            <a:pPr algn="ctr">
              <a:buNone/>
            </a:pPr>
            <a:r>
              <a:rPr lang="en-US" sz="3600" b="1" dirty="0">
                <a:solidFill>
                  <a:srgbClr val="F17B79"/>
                </a:solidFill>
                <a:effectLst/>
                <a:latin typeface="Times New Roman" panose="02020603050405020304" pitchFamily="18" charset="0"/>
                <a:cs typeface="Times New Roman" panose="02020603050405020304" pitchFamily="18" charset="0"/>
              </a:rPr>
              <a:t>Full Divide</a:t>
            </a:r>
            <a:endParaRPr lang="en-US" sz="3600" dirty="0">
              <a:effectLst/>
              <a:latin typeface="Times New Roman" panose="02020603050405020304" pitchFamily="18" charset="0"/>
              <a:cs typeface="Times New Roman" panose="02020603050405020304" pitchFamily="18" charset="0"/>
            </a:endParaRPr>
          </a:p>
          <a:p>
            <a:pPr algn="ctr">
              <a:buNone/>
            </a:pPr>
            <a:endParaRPr lang="en-US" sz="2000" dirty="0">
              <a:solidFill>
                <a:srgbClr val="666666"/>
              </a:solidFill>
              <a:effectLst/>
              <a:latin typeface="Times New Roman" panose="02020603050405020304" pitchFamily="18" charset="0"/>
              <a:cs typeface="Times New Roman" panose="02020603050405020304" pitchFamily="18" charset="0"/>
            </a:endParaRPr>
          </a:p>
          <a:p>
            <a:pPr algn="ctr">
              <a:buNone/>
            </a:pPr>
            <a:r>
              <a:rPr lang="en-US" sz="2400" dirty="0">
                <a:solidFill>
                  <a:srgbClr val="5555FF"/>
                </a:solidFill>
                <a:effectLst/>
                <a:latin typeface="Times New Roman" panose="02020603050405020304" pitchFamily="18" charset="0"/>
                <a:cs typeface="Times New Roman" panose="02020603050405020304" pitchFamily="18" charset="0"/>
              </a:rPr>
              <a:t>48 </a:t>
            </a:r>
            <a:r>
              <a:rPr lang="en-US" sz="2400" dirty="0">
                <a:solidFill>
                  <a:srgbClr val="FFFFFF"/>
                </a:solidFill>
                <a:effectLst/>
                <a:latin typeface="Times New Roman" panose="02020603050405020304" pitchFamily="18" charset="0"/>
                <a:cs typeface="Times New Roman" panose="02020603050405020304" pitchFamily="18" charset="0"/>
              </a:rPr>
              <a:t>/ </a:t>
            </a:r>
            <a:r>
              <a:rPr lang="en-US" sz="2400" dirty="0">
                <a:solidFill>
                  <a:srgbClr val="53C9FF"/>
                </a:solidFill>
                <a:effectLst/>
                <a:latin typeface="Times New Roman" panose="02020603050405020304" pitchFamily="18" charset="0"/>
                <a:cs typeface="Times New Roman" panose="02020603050405020304" pitchFamily="18" charset="0"/>
              </a:rPr>
              <a:t>6 </a:t>
            </a:r>
            <a:r>
              <a:rPr lang="en-US" sz="2400" dirty="0">
                <a:solidFill>
                  <a:srgbClr val="FFFFFF"/>
                </a:solidFill>
                <a:effectLst/>
                <a:latin typeface="Times New Roman" panose="02020603050405020304" pitchFamily="18" charset="0"/>
                <a:cs typeface="Times New Roman" panose="02020603050405020304" pitchFamily="18" charset="0"/>
              </a:rPr>
              <a:t>= 8</a:t>
            </a:r>
            <a:endParaRPr lang="en-US" sz="800" dirty="0">
              <a:solidFill>
                <a:srgbClr val="FFFFFF"/>
              </a:solidFill>
              <a:effectLst/>
              <a:latin typeface="Times New Roman" panose="02020603050405020304" pitchFamily="18" charset="0"/>
              <a:cs typeface="Times New Roman" panose="02020603050405020304" pitchFamily="18" charset="0"/>
            </a:endParaRPr>
          </a:p>
          <a:p>
            <a:pPr algn="ctr">
              <a:buNone/>
            </a:pPr>
            <a:endParaRPr lang="en-US" sz="1600" dirty="0">
              <a:solidFill>
                <a:srgbClr val="666666"/>
              </a:solidFill>
              <a:effectLst/>
              <a:latin typeface="Times New Roman" panose="02020603050405020304" pitchFamily="18" charset="0"/>
              <a:cs typeface="Times New Roman" panose="02020603050405020304" pitchFamily="18" charset="0"/>
            </a:endParaRPr>
          </a:p>
          <a:p>
            <a:pPr algn="ctr">
              <a:buNone/>
            </a:pPr>
            <a:r>
              <a:rPr lang="en-US" sz="2400" dirty="0">
                <a:solidFill>
                  <a:srgbClr val="F28E2B"/>
                </a:solidFill>
                <a:effectLst/>
                <a:latin typeface="Times New Roman" panose="02020603050405020304" pitchFamily="18" charset="0"/>
                <a:cs typeface="Times New Roman" panose="02020603050405020304" pitchFamily="18" charset="0"/>
              </a:rPr>
              <a:t>22</a:t>
            </a:r>
            <a:r>
              <a:rPr lang="en-US" sz="2400" dirty="0">
                <a:solidFill>
                  <a:srgbClr val="FFFFFF"/>
                </a:solidFill>
                <a:effectLst/>
                <a:latin typeface="Times New Roman" panose="02020603050405020304" pitchFamily="18" charset="0"/>
                <a:cs typeface="Times New Roman" panose="02020603050405020304" pitchFamily="18" charset="0"/>
              </a:rPr>
              <a:t> / 8 = </a:t>
            </a:r>
            <a:r>
              <a:rPr lang="en-US" sz="2400" dirty="0">
                <a:solidFill>
                  <a:srgbClr val="F9A655"/>
                </a:solidFill>
                <a:effectLst/>
                <a:latin typeface="Times New Roman" panose="02020603050405020304" pitchFamily="18" charset="0"/>
                <a:cs typeface="Times New Roman" panose="02020603050405020304" pitchFamily="18" charset="0"/>
              </a:rPr>
              <a:t>2  </a:t>
            </a:r>
            <a:r>
              <a:rPr lang="en-US" sz="2400" dirty="0">
                <a:solidFill>
                  <a:srgbClr val="FFFFFF"/>
                </a:solidFill>
                <a:effectLst/>
                <a:latin typeface="Times New Roman" panose="02020603050405020304" pitchFamily="18" charset="0"/>
                <a:cs typeface="Times New Roman" panose="02020603050405020304" pitchFamily="18" charset="0"/>
              </a:rPr>
              <a:t> R = </a:t>
            </a:r>
            <a:r>
              <a:rPr lang="en-US" sz="2400" dirty="0">
                <a:solidFill>
                  <a:srgbClr val="F9A655"/>
                </a:solidFill>
                <a:effectLst/>
                <a:latin typeface="Times New Roman" panose="02020603050405020304" pitchFamily="18" charset="0"/>
                <a:cs typeface="Times New Roman" panose="02020603050405020304" pitchFamily="18" charset="0"/>
              </a:rPr>
              <a:t>6</a:t>
            </a:r>
            <a:endParaRPr lang="en-US" sz="2400" dirty="0">
              <a:effectLst/>
              <a:latin typeface="Times New Roman" panose="02020603050405020304" pitchFamily="18" charset="0"/>
              <a:cs typeface="Times New Roman" panose="02020603050405020304" pitchFamily="18" charset="0"/>
            </a:endParaRPr>
          </a:p>
          <a:p>
            <a:pPr algn="ctr">
              <a:buNone/>
            </a:pPr>
            <a:endParaRPr lang="en-US" sz="800" dirty="0">
              <a:solidFill>
                <a:srgbClr val="666666"/>
              </a:solidFill>
              <a:effectLst/>
              <a:latin typeface="Times New Roman" panose="02020603050405020304" pitchFamily="18" charset="0"/>
              <a:cs typeface="Times New Roman" panose="02020603050405020304" pitchFamily="18" charset="0"/>
            </a:endParaRPr>
          </a:p>
          <a:p>
            <a:pPr algn="ctr">
              <a:buNone/>
            </a:pPr>
            <a:r>
              <a:rPr lang="en-US" sz="2400" dirty="0">
                <a:solidFill>
                  <a:srgbClr val="1DFF30"/>
                </a:solidFill>
                <a:effectLst/>
                <a:latin typeface="Times New Roman" panose="02020603050405020304" pitchFamily="18" charset="0"/>
                <a:cs typeface="Times New Roman" panose="02020603050405020304" pitchFamily="18" charset="0"/>
              </a:rPr>
              <a:t>8 </a:t>
            </a:r>
            <a:r>
              <a:rPr lang="en-US" sz="2400" dirty="0">
                <a:solidFill>
                  <a:srgbClr val="FFFFFF"/>
                </a:solidFill>
                <a:effectLst/>
                <a:latin typeface="Times New Roman" panose="02020603050405020304" pitchFamily="18" charset="0"/>
                <a:cs typeface="Times New Roman" panose="02020603050405020304" pitchFamily="18" charset="0"/>
              </a:rPr>
              <a:t>/ 8 = </a:t>
            </a:r>
            <a:r>
              <a:rPr lang="en-US" sz="2400" dirty="0">
                <a:solidFill>
                  <a:srgbClr val="00FF00"/>
                </a:solidFill>
                <a:effectLst/>
                <a:latin typeface="Times New Roman" panose="02020603050405020304" pitchFamily="18" charset="0"/>
                <a:cs typeface="Times New Roman" panose="02020603050405020304" pitchFamily="18" charset="0"/>
              </a:rPr>
              <a:t>1  </a:t>
            </a:r>
            <a:r>
              <a:rPr lang="en-US" sz="2400" dirty="0">
                <a:solidFill>
                  <a:srgbClr val="FFFFFF"/>
                </a:solidFill>
                <a:effectLst/>
                <a:latin typeface="Times New Roman" panose="02020603050405020304" pitchFamily="18" charset="0"/>
                <a:cs typeface="Times New Roman" panose="02020603050405020304" pitchFamily="18" charset="0"/>
              </a:rPr>
              <a:t> R = </a:t>
            </a:r>
            <a:r>
              <a:rPr lang="en-US" sz="2400" dirty="0">
                <a:solidFill>
                  <a:srgbClr val="00FF00"/>
                </a:solidFill>
                <a:effectLst/>
                <a:latin typeface="Times New Roman" panose="02020603050405020304" pitchFamily="18" charset="0"/>
                <a:cs typeface="Times New Roman" panose="02020603050405020304" pitchFamily="18" charset="0"/>
              </a:rPr>
              <a:t>0</a:t>
            </a:r>
            <a:endParaRPr lang="en-US" sz="2400" dirty="0">
              <a:effectLst/>
              <a:latin typeface="Times New Roman" panose="02020603050405020304" pitchFamily="18" charset="0"/>
              <a:cs typeface="Times New Roman" panose="02020603050405020304" pitchFamily="18" charset="0"/>
            </a:endParaRPr>
          </a:p>
          <a:p>
            <a:pPr algn="ctr">
              <a:buNone/>
            </a:pPr>
            <a:endParaRPr lang="en-US" sz="800" dirty="0">
              <a:solidFill>
                <a:srgbClr val="666666"/>
              </a:solidFill>
              <a:effectLst/>
              <a:latin typeface="Times New Roman" panose="02020603050405020304" pitchFamily="18" charset="0"/>
              <a:cs typeface="Times New Roman" panose="02020603050405020304" pitchFamily="18" charset="0"/>
            </a:endParaRPr>
          </a:p>
          <a:p>
            <a:pPr algn="ctr">
              <a:buNone/>
            </a:pPr>
            <a:r>
              <a:rPr lang="en-US" sz="2400" dirty="0">
                <a:solidFill>
                  <a:srgbClr val="D37295"/>
                </a:solidFill>
                <a:effectLst/>
                <a:latin typeface="Times New Roman" panose="02020603050405020304" pitchFamily="18" charset="0"/>
                <a:cs typeface="Times New Roman" panose="02020603050405020304" pitchFamily="18" charset="0"/>
              </a:rPr>
              <a:t>18 </a:t>
            </a:r>
            <a:r>
              <a:rPr lang="en-US" sz="2400" dirty="0">
                <a:solidFill>
                  <a:srgbClr val="FFFFFF"/>
                </a:solidFill>
                <a:effectLst/>
                <a:latin typeface="Times New Roman" panose="02020603050405020304" pitchFamily="18" charset="0"/>
                <a:cs typeface="Times New Roman" panose="02020603050405020304" pitchFamily="18" charset="0"/>
              </a:rPr>
              <a:t>/ 8 = </a:t>
            </a:r>
            <a:r>
              <a:rPr lang="en-US" sz="2400" dirty="0">
                <a:solidFill>
                  <a:srgbClr val="D37295"/>
                </a:solidFill>
                <a:effectLst/>
                <a:latin typeface="Times New Roman" panose="02020603050405020304" pitchFamily="18" charset="0"/>
                <a:cs typeface="Times New Roman" panose="02020603050405020304" pitchFamily="18" charset="0"/>
              </a:rPr>
              <a:t>2</a:t>
            </a:r>
            <a:r>
              <a:rPr lang="en-US" sz="2400" dirty="0">
                <a:solidFill>
                  <a:srgbClr val="FFFFFF"/>
                </a:solidFill>
                <a:effectLst/>
                <a:latin typeface="Times New Roman" panose="02020603050405020304" pitchFamily="18" charset="0"/>
                <a:cs typeface="Times New Roman" panose="02020603050405020304" pitchFamily="18" charset="0"/>
              </a:rPr>
              <a:t>   R = </a:t>
            </a:r>
            <a:r>
              <a:rPr lang="en-US" sz="2400" dirty="0">
                <a:solidFill>
                  <a:srgbClr val="D37295"/>
                </a:solidFill>
                <a:effectLst/>
                <a:latin typeface="Times New Roman" panose="02020603050405020304" pitchFamily="18" charset="0"/>
                <a:cs typeface="Times New Roman" panose="02020603050405020304" pitchFamily="18" charset="0"/>
              </a:rPr>
              <a:t>2</a:t>
            </a:r>
            <a:endParaRPr lang="en-US" sz="2400" dirty="0">
              <a:solidFill>
                <a:srgbClr val="666666"/>
              </a:solidFill>
              <a:latin typeface="Times New Roman" panose="02020603050405020304" pitchFamily="18" charset="0"/>
              <a:cs typeface="Times New Roman" panose="02020603050405020304" pitchFamily="18" charset="0"/>
            </a:endParaRPr>
          </a:p>
          <a:p>
            <a:pPr algn="ctr">
              <a:buNone/>
            </a:pPr>
            <a:endParaRPr lang="en-US" sz="2000" dirty="0">
              <a:solidFill>
                <a:srgbClr val="666666"/>
              </a:solidFill>
              <a:effectLst/>
              <a:latin typeface="Times New Roman" panose="02020603050405020304" pitchFamily="18" charset="0"/>
              <a:cs typeface="Times New Roman" panose="02020603050405020304" pitchFamily="18" charset="0"/>
            </a:endParaRPr>
          </a:p>
          <a:p>
            <a:pPr algn="ctr">
              <a:buNone/>
            </a:pPr>
            <a:r>
              <a:rPr lang="en-US" sz="2400" dirty="0">
                <a:solidFill>
                  <a:srgbClr val="FFFFFF"/>
                </a:solidFill>
                <a:effectLst/>
                <a:latin typeface="Times New Roman" panose="02020603050405020304" pitchFamily="18" charset="0"/>
                <a:cs typeface="Times New Roman" panose="02020603050405020304" pitchFamily="18" charset="0"/>
              </a:rPr>
              <a:t>Electoral Votes Awarded </a:t>
            </a:r>
            <a:endParaRPr lang="en-US" sz="2400" dirty="0">
              <a:effectLst/>
              <a:latin typeface="Times New Roman" panose="02020603050405020304" pitchFamily="18" charset="0"/>
              <a:cs typeface="Times New Roman" panose="02020603050405020304" pitchFamily="18" charset="0"/>
            </a:endParaRPr>
          </a:p>
          <a:p>
            <a:pPr algn="ctr">
              <a:buNone/>
            </a:pPr>
            <a:r>
              <a:rPr lang="en-US" sz="2400" dirty="0">
                <a:solidFill>
                  <a:srgbClr val="F9A655"/>
                </a:solidFill>
                <a:effectLst/>
                <a:latin typeface="Times New Roman" panose="02020603050405020304" pitchFamily="18" charset="0"/>
                <a:cs typeface="Times New Roman" panose="02020603050405020304" pitchFamily="18" charset="0"/>
              </a:rPr>
              <a:t>2</a:t>
            </a:r>
            <a:r>
              <a:rPr lang="en-US" sz="2400" dirty="0">
                <a:solidFill>
                  <a:srgbClr val="FFFFFF"/>
                </a:solidFill>
                <a:effectLst/>
                <a:latin typeface="Times New Roman" panose="02020603050405020304" pitchFamily="18" charset="0"/>
                <a:cs typeface="Times New Roman" panose="02020603050405020304" pitchFamily="18" charset="0"/>
              </a:rPr>
              <a:t> </a:t>
            </a:r>
            <a:r>
              <a:rPr lang="en-US" sz="2400" b="1" dirty="0">
                <a:solidFill>
                  <a:srgbClr val="FFFFFF"/>
                </a:solidFill>
                <a:effectLst/>
                <a:latin typeface="Times New Roman" panose="02020603050405020304" pitchFamily="18" charset="0"/>
                <a:cs typeface="Times New Roman" panose="02020603050405020304" pitchFamily="18" charset="0"/>
              </a:rPr>
              <a:t>|</a:t>
            </a:r>
            <a:r>
              <a:rPr lang="en-US" sz="2400" dirty="0">
                <a:solidFill>
                  <a:srgbClr val="FFFFFF"/>
                </a:solidFill>
                <a:effectLst/>
                <a:latin typeface="Times New Roman" panose="02020603050405020304" pitchFamily="18" charset="0"/>
                <a:cs typeface="Times New Roman" panose="02020603050405020304" pitchFamily="18" charset="0"/>
              </a:rPr>
              <a:t> </a:t>
            </a:r>
            <a:r>
              <a:rPr lang="en-US" sz="2400" dirty="0">
                <a:solidFill>
                  <a:srgbClr val="00FF00"/>
                </a:solidFill>
                <a:effectLst/>
                <a:latin typeface="Times New Roman" panose="02020603050405020304" pitchFamily="18" charset="0"/>
                <a:cs typeface="Times New Roman" panose="02020603050405020304" pitchFamily="18" charset="0"/>
              </a:rPr>
              <a:t>1</a:t>
            </a:r>
            <a:r>
              <a:rPr lang="en-US" sz="2400" dirty="0">
                <a:solidFill>
                  <a:srgbClr val="FFFFFF"/>
                </a:solidFill>
                <a:effectLst/>
                <a:latin typeface="Times New Roman" panose="02020603050405020304" pitchFamily="18" charset="0"/>
                <a:cs typeface="Times New Roman" panose="02020603050405020304" pitchFamily="18" charset="0"/>
              </a:rPr>
              <a:t> </a:t>
            </a:r>
            <a:r>
              <a:rPr lang="en-US" sz="2400" b="1" dirty="0">
                <a:solidFill>
                  <a:srgbClr val="FFFFFF"/>
                </a:solidFill>
                <a:effectLst/>
                <a:latin typeface="Times New Roman" panose="02020603050405020304" pitchFamily="18" charset="0"/>
                <a:cs typeface="Times New Roman" panose="02020603050405020304" pitchFamily="18" charset="0"/>
              </a:rPr>
              <a:t>|</a:t>
            </a:r>
            <a:r>
              <a:rPr lang="en-US" sz="2400" dirty="0">
                <a:solidFill>
                  <a:srgbClr val="FFFFFF"/>
                </a:solidFill>
                <a:effectLst/>
                <a:latin typeface="Times New Roman" panose="02020603050405020304" pitchFamily="18" charset="0"/>
                <a:cs typeface="Times New Roman" panose="02020603050405020304" pitchFamily="18" charset="0"/>
              </a:rPr>
              <a:t> </a:t>
            </a:r>
            <a:r>
              <a:rPr lang="en-US" sz="2400" dirty="0">
                <a:solidFill>
                  <a:srgbClr val="D37295"/>
                </a:solidFill>
                <a:effectLst/>
                <a:latin typeface="Times New Roman" panose="02020603050405020304" pitchFamily="18" charset="0"/>
                <a:cs typeface="Times New Roman" panose="02020603050405020304" pitchFamily="18" charset="0"/>
              </a:rPr>
              <a:t>2</a:t>
            </a:r>
            <a:endParaRPr lang="en-US" sz="2400" dirty="0">
              <a:effectLst/>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AD48119F-1E51-BF6B-CE3D-FAC837B0E76B}"/>
              </a:ext>
            </a:extLst>
          </p:cNvPr>
          <p:cNvSpPr txBox="1"/>
          <p:nvPr/>
        </p:nvSpPr>
        <p:spPr>
          <a:xfrm>
            <a:off x="8227222" y="1992659"/>
            <a:ext cx="3650456" cy="4031873"/>
          </a:xfrm>
          <a:prstGeom prst="rect">
            <a:avLst/>
          </a:prstGeom>
          <a:noFill/>
        </p:spPr>
        <p:txBody>
          <a:bodyPr wrap="square">
            <a:spAutoFit/>
          </a:bodyPr>
          <a:lstStyle/>
          <a:p>
            <a:pPr algn="ctr">
              <a:buNone/>
            </a:pPr>
            <a:r>
              <a:rPr lang="pt-BR" sz="3600" b="1" dirty="0">
                <a:solidFill>
                  <a:srgbClr val="C7BCFF"/>
                </a:solidFill>
                <a:effectLst/>
                <a:latin typeface="Times New Roman" panose="02020603050405020304" pitchFamily="18" charset="0"/>
                <a:cs typeface="Times New Roman" panose="02020603050405020304" pitchFamily="18" charset="0"/>
              </a:rPr>
              <a:t>Nebraska-like</a:t>
            </a:r>
            <a:endParaRPr lang="pt-BR" sz="3600" b="1" dirty="0">
              <a:solidFill>
                <a:srgbClr val="666666"/>
              </a:solidFill>
              <a:latin typeface="Times New Roman" panose="02020603050405020304" pitchFamily="18" charset="0"/>
              <a:cs typeface="Times New Roman" panose="02020603050405020304" pitchFamily="18" charset="0"/>
            </a:endParaRPr>
          </a:p>
          <a:p>
            <a:pPr algn="ctr">
              <a:buNone/>
            </a:pPr>
            <a:endParaRPr lang="pt-BR" sz="2000" dirty="0">
              <a:solidFill>
                <a:srgbClr val="666666"/>
              </a:solidFill>
              <a:effectLst/>
              <a:latin typeface="Times New Roman" panose="02020603050405020304" pitchFamily="18" charset="0"/>
              <a:cs typeface="Times New Roman" panose="02020603050405020304" pitchFamily="18" charset="0"/>
            </a:endParaRPr>
          </a:p>
          <a:p>
            <a:pPr algn="ctr">
              <a:buNone/>
            </a:pPr>
            <a:r>
              <a:rPr lang="pt-BR" sz="2400" dirty="0">
                <a:solidFill>
                  <a:srgbClr val="5555FF"/>
                </a:solidFill>
                <a:effectLst/>
                <a:latin typeface="Times New Roman" panose="02020603050405020304" pitchFamily="18" charset="0"/>
                <a:cs typeface="Times New Roman" panose="02020603050405020304" pitchFamily="18" charset="0"/>
              </a:rPr>
              <a:t>48 </a:t>
            </a:r>
            <a:r>
              <a:rPr lang="pt-BR" sz="2400" dirty="0">
                <a:solidFill>
                  <a:srgbClr val="FFFFFF"/>
                </a:solidFill>
                <a:effectLst/>
                <a:latin typeface="Times New Roman" panose="02020603050405020304" pitchFamily="18" charset="0"/>
                <a:cs typeface="Times New Roman" panose="02020603050405020304" pitchFamily="18" charset="0"/>
              </a:rPr>
              <a:t>/ </a:t>
            </a:r>
            <a:r>
              <a:rPr lang="pt-BR" sz="2400" dirty="0">
                <a:solidFill>
                  <a:srgbClr val="89FFDC"/>
                </a:solidFill>
                <a:effectLst/>
                <a:latin typeface="Times New Roman" panose="02020603050405020304" pitchFamily="18" charset="0"/>
                <a:cs typeface="Times New Roman" panose="02020603050405020304" pitchFamily="18" charset="0"/>
              </a:rPr>
              <a:t>4</a:t>
            </a:r>
            <a:r>
              <a:rPr lang="pt-BR" sz="2400" dirty="0">
                <a:solidFill>
                  <a:srgbClr val="53C9FF"/>
                </a:solidFill>
                <a:effectLst/>
                <a:latin typeface="Times New Roman" panose="02020603050405020304" pitchFamily="18" charset="0"/>
                <a:cs typeface="Times New Roman" panose="02020603050405020304" pitchFamily="18" charset="0"/>
              </a:rPr>
              <a:t> </a:t>
            </a:r>
            <a:r>
              <a:rPr lang="pt-BR" sz="2400" dirty="0">
                <a:solidFill>
                  <a:srgbClr val="FFFFFF"/>
                </a:solidFill>
                <a:effectLst/>
                <a:latin typeface="Times New Roman" panose="02020603050405020304" pitchFamily="18" charset="0"/>
                <a:cs typeface="Times New Roman" panose="02020603050405020304" pitchFamily="18" charset="0"/>
              </a:rPr>
              <a:t>= 12</a:t>
            </a:r>
            <a:endParaRPr lang="pt-BR" sz="2400" dirty="0">
              <a:effectLst/>
              <a:latin typeface="Times New Roman" panose="02020603050405020304" pitchFamily="18" charset="0"/>
              <a:cs typeface="Times New Roman" panose="02020603050405020304" pitchFamily="18" charset="0"/>
            </a:endParaRPr>
          </a:p>
          <a:p>
            <a:pPr algn="ctr">
              <a:buNone/>
            </a:pPr>
            <a:endParaRPr lang="pt-BR" sz="1600" dirty="0">
              <a:solidFill>
                <a:srgbClr val="666666"/>
              </a:solidFill>
              <a:effectLst/>
              <a:latin typeface="Times New Roman" panose="02020603050405020304" pitchFamily="18" charset="0"/>
              <a:cs typeface="Times New Roman" panose="02020603050405020304" pitchFamily="18" charset="0"/>
            </a:endParaRPr>
          </a:p>
          <a:p>
            <a:pPr algn="ctr">
              <a:buNone/>
            </a:pPr>
            <a:r>
              <a:rPr lang="pt-BR" sz="2400" dirty="0">
                <a:solidFill>
                  <a:srgbClr val="F28E2B"/>
                </a:solidFill>
                <a:effectLst/>
                <a:latin typeface="Times New Roman" panose="02020603050405020304" pitchFamily="18" charset="0"/>
                <a:cs typeface="Times New Roman" panose="02020603050405020304" pitchFamily="18" charset="0"/>
              </a:rPr>
              <a:t>22</a:t>
            </a:r>
            <a:r>
              <a:rPr lang="pt-BR" sz="2400" dirty="0">
                <a:solidFill>
                  <a:srgbClr val="FFFFFF"/>
                </a:solidFill>
                <a:effectLst/>
                <a:latin typeface="Times New Roman" panose="02020603050405020304" pitchFamily="18" charset="0"/>
                <a:cs typeface="Times New Roman" panose="02020603050405020304" pitchFamily="18" charset="0"/>
              </a:rPr>
              <a:t> / 12 = </a:t>
            </a:r>
            <a:r>
              <a:rPr lang="pt-BR" sz="2400" dirty="0">
                <a:solidFill>
                  <a:srgbClr val="F9A655"/>
                </a:solidFill>
                <a:effectLst/>
                <a:latin typeface="Times New Roman" panose="02020603050405020304" pitchFamily="18" charset="0"/>
                <a:cs typeface="Times New Roman" panose="02020603050405020304" pitchFamily="18" charset="0"/>
              </a:rPr>
              <a:t>1  </a:t>
            </a:r>
            <a:r>
              <a:rPr lang="pt-BR" sz="2400" dirty="0">
                <a:solidFill>
                  <a:srgbClr val="FFFFFF"/>
                </a:solidFill>
                <a:effectLst/>
                <a:latin typeface="Times New Roman" panose="02020603050405020304" pitchFamily="18" charset="0"/>
                <a:cs typeface="Times New Roman" panose="02020603050405020304" pitchFamily="18" charset="0"/>
              </a:rPr>
              <a:t> R = </a:t>
            </a:r>
            <a:r>
              <a:rPr lang="pt-BR" sz="2400" dirty="0">
                <a:solidFill>
                  <a:srgbClr val="F9A655"/>
                </a:solidFill>
                <a:effectLst/>
                <a:latin typeface="Times New Roman" panose="02020603050405020304" pitchFamily="18" charset="0"/>
                <a:cs typeface="Times New Roman" panose="02020603050405020304" pitchFamily="18" charset="0"/>
              </a:rPr>
              <a:t>10</a:t>
            </a:r>
          </a:p>
          <a:p>
            <a:pPr algn="ctr">
              <a:buNone/>
            </a:pPr>
            <a:endParaRPr lang="pt-BR" sz="800" dirty="0">
              <a:effectLst/>
              <a:latin typeface="Times New Roman" panose="02020603050405020304" pitchFamily="18" charset="0"/>
              <a:cs typeface="Times New Roman" panose="02020603050405020304" pitchFamily="18" charset="0"/>
            </a:endParaRPr>
          </a:p>
          <a:p>
            <a:pPr algn="ctr">
              <a:buNone/>
            </a:pPr>
            <a:r>
              <a:rPr lang="pt-BR" sz="2400" dirty="0">
                <a:solidFill>
                  <a:srgbClr val="1DFF30"/>
                </a:solidFill>
                <a:effectLst/>
                <a:latin typeface="Times New Roman" panose="02020603050405020304" pitchFamily="18" charset="0"/>
                <a:cs typeface="Times New Roman" panose="02020603050405020304" pitchFamily="18" charset="0"/>
              </a:rPr>
              <a:t>8 </a:t>
            </a:r>
            <a:r>
              <a:rPr lang="pt-BR" sz="2400" dirty="0">
                <a:solidFill>
                  <a:srgbClr val="FFFFFF"/>
                </a:solidFill>
                <a:effectLst/>
                <a:latin typeface="Times New Roman" panose="02020603050405020304" pitchFamily="18" charset="0"/>
                <a:cs typeface="Times New Roman" panose="02020603050405020304" pitchFamily="18" charset="0"/>
              </a:rPr>
              <a:t>/ 12 = </a:t>
            </a:r>
            <a:r>
              <a:rPr lang="pt-BR" sz="2400" dirty="0">
                <a:solidFill>
                  <a:srgbClr val="00FF00"/>
                </a:solidFill>
                <a:effectLst/>
                <a:latin typeface="Times New Roman" panose="02020603050405020304" pitchFamily="18" charset="0"/>
                <a:cs typeface="Times New Roman" panose="02020603050405020304" pitchFamily="18" charset="0"/>
              </a:rPr>
              <a:t>0</a:t>
            </a:r>
            <a:r>
              <a:rPr lang="pt-BR" sz="2400" dirty="0">
                <a:solidFill>
                  <a:srgbClr val="FFFFFF"/>
                </a:solidFill>
                <a:effectLst/>
                <a:latin typeface="Times New Roman" panose="02020603050405020304" pitchFamily="18" charset="0"/>
                <a:cs typeface="Times New Roman" panose="02020603050405020304" pitchFamily="18" charset="0"/>
              </a:rPr>
              <a:t>   R = </a:t>
            </a:r>
            <a:r>
              <a:rPr lang="pt-BR" sz="2400" dirty="0">
                <a:solidFill>
                  <a:srgbClr val="00FF00"/>
                </a:solidFill>
                <a:effectLst/>
                <a:latin typeface="Times New Roman" panose="02020603050405020304" pitchFamily="18" charset="0"/>
                <a:cs typeface="Times New Roman" panose="02020603050405020304" pitchFamily="18" charset="0"/>
              </a:rPr>
              <a:t>8</a:t>
            </a:r>
          </a:p>
          <a:p>
            <a:pPr algn="ctr">
              <a:buNone/>
            </a:pPr>
            <a:endParaRPr lang="pt-BR" sz="800" dirty="0">
              <a:effectLst/>
              <a:latin typeface="Times New Roman" panose="02020603050405020304" pitchFamily="18" charset="0"/>
              <a:cs typeface="Times New Roman" panose="02020603050405020304" pitchFamily="18" charset="0"/>
            </a:endParaRPr>
          </a:p>
          <a:p>
            <a:pPr algn="ctr">
              <a:buNone/>
            </a:pPr>
            <a:r>
              <a:rPr lang="pt-BR" sz="2400" dirty="0">
                <a:solidFill>
                  <a:srgbClr val="D37295"/>
                </a:solidFill>
                <a:effectLst/>
                <a:latin typeface="Times New Roman" panose="02020603050405020304" pitchFamily="18" charset="0"/>
                <a:cs typeface="Times New Roman" panose="02020603050405020304" pitchFamily="18" charset="0"/>
              </a:rPr>
              <a:t>18 </a:t>
            </a:r>
            <a:r>
              <a:rPr lang="pt-BR" sz="2400" dirty="0">
                <a:solidFill>
                  <a:srgbClr val="FFFFFF"/>
                </a:solidFill>
                <a:effectLst/>
                <a:latin typeface="Times New Roman" panose="02020603050405020304" pitchFamily="18" charset="0"/>
                <a:cs typeface="Times New Roman" panose="02020603050405020304" pitchFamily="18" charset="0"/>
              </a:rPr>
              <a:t>/ 12 = </a:t>
            </a:r>
            <a:r>
              <a:rPr lang="pt-BR" sz="2400" dirty="0">
                <a:solidFill>
                  <a:srgbClr val="D37295"/>
                </a:solidFill>
                <a:effectLst/>
                <a:latin typeface="Times New Roman" panose="02020603050405020304" pitchFamily="18" charset="0"/>
                <a:cs typeface="Times New Roman" panose="02020603050405020304" pitchFamily="18" charset="0"/>
              </a:rPr>
              <a:t>1  </a:t>
            </a:r>
            <a:r>
              <a:rPr lang="pt-BR" sz="2400" dirty="0">
                <a:solidFill>
                  <a:srgbClr val="FFFFFF"/>
                </a:solidFill>
                <a:effectLst/>
                <a:latin typeface="Times New Roman" panose="02020603050405020304" pitchFamily="18" charset="0"/>
                <a:cs typeface="Times New Roman" panose="02020603050405020304" pitchFamily="18" charset="0"/>
              </a:rPr>
              <a:t> R = </a:t>
            </a:r>
            <a:r>
              <a:rPr lang="pt-BR" sz="2400" dirty="0">
                <a:solidFill>
                  <a:srgbClr val="D37295"/>
                </a:solidFill>
                <a:effectLst/>
                <a:latin typeface="Times New Roman" panose="02020603050405020304" pitchFamily="18" charset="0"/>
                <a:cs typeface="Times New Roman" panose="02020603050405020304" pitchFamily="18" charset="0"/>
              </a:rPr>
              <a:t>6</a:t>
            </a:r>
            <a:br>
              <a:rPr lang="pt-BR" sz="2400" dirty="0">
                <a:solidFill>
                  <a:srgbClr val="666666"/>
                </a:solidFill>
                <a:effectLst/>
                <a:latin typeface="Times New Roman" panose="02020603050405020304" pitchFamily="18" charset="0"/>
                <a:cs typeface="Times New Roman" panose="02020603050405020304" pitchFamily="18" charset="0"/>
              </a:rPr>
            </a:br>
            <a:endParaRPr lang="pt-BR" sz="2400" dirty="0">
              <a:solidFill>
                <a:srgbClr val="666666"/>
              </a:solidFill>
              <a:effectLst/>
              <a:latin typeface="Times New Roman" panose="02020603050405020304" pitchFamily="18" charset="0"/>
              <a:cs typeface="Times New Roman" panose="02020603050405020304" pitchFamily="18" charset="0"/>
            </a:endParaRPr>
          </a:p>
          <a:p>
            <a:pPr algn="ctr">
              <a:buNone/>
            </a:pPr>
            <a:r>
              <a:rPr lang="pt-BR" sz="2400" dirty="0">
                <a:solidFill>
                  <a:srgbClr val="FFFFFF"/>
                </a:solidFill>
                <a:effectLst/>
                <a:latin typeface="Times New Roman" panose="02020603050405020304" pitchFamily="18" charset="0"/>
                <a:cs typeface="Times New Roman" panose="02020603050405020304" pitchFamily="18" charset="0"/>
              </a:rPr>
              <a:t>Electoral Votes Awarded </a:t>
            </a:r>
            <a:endParaRPr lang="pt-BR" sz="2400" dirty="0">
              <a:effectLst/>
              <a:latin typeface="Times New Roman" panose="02020603050405020304" pitchFamily="18" charset="0"/>
              <a:cs typeface="Times New Roman" panose="02020603050405020304" pitchFamily="18" charset="0"/>
            </a:endParaRPr>
          </a:p>
          <a:p>
            <a:pPr algn="ctr">
              <a:buNone/>
            </a:pPr>
            <a:r>
              <a:rPr lang="pt-BR" sz="2400" dirty="0">
                <a:solidFill>
                  <a:srgbClr val="F9A655"/>
                </a:solidFill>
                <a:effectLst/>
                <a:latin typeface="Times New Roman" panose="02020603050405020304" pitchFamily="18" charset="0"/>
                <a:cs typeface="Times New Roman" panose="02020603050405020304" pitchFamily="18" charset="0"/>
              </a:rPr>
              <a:t>1</a:t>
            </a:r>
            <a:r>
              <a:rPr lang="pt-BR" sz="2400" dirty="0">
                <a:solidFill>
                  <a:srgbClr val="FFFFFF"/>
                </a:solidFill>
                <a:effectLst/>
                <a:latin typeface="Times New Roman" panose="02020603050405020304" pitchFamily="18" charset="0"/>
                <a:cs typeface="Times New Roman" panose="02020603050405020304" pitchFamily="18" charset="0"/>
              </a:rPr>
              <a:t> </a:t>
            </a:r>
            <a:r>
              <a:rPr lang="pt-BR" sz="2400" b="1" dirty="0">
                <a:solidFill>
                  <a:srgbClr val="FFFFFF"/>
                </a:solidFill>
                <a:effectLst/>
                <a:latin typeface="Times New Roman" panose="02020603050405020304" pitchFamily="18" charset="0"/>
                <a:cs typeface="Times New Roman" panose="02020603050405020304" pitchFamily="18" charset="0"/>
              </a:rPr>
              <a:t>|</a:t>
            </a:r>
            <a:r>
              <a:rPr lang="pt-BR" sz="2400" dirty="0">
                <a:solidFill>
                  <a:srgbClr val="FFFFFF"/>
                </a:solidFill>
                <a:effectLst/>
                <a:latin typeface="Times New Roman" panose="02020603050405020304" pitchFamily="18" charset="0"/>
                <a:cs typeface="Times New Roman" panose="02020603050405020304" pitchFamily="18" charset="0"/>
              </a:rPr>
              <a:t> </a:t>
            </a:r>
            <a:r>
              <a:rPr lang="pt-BR" sz="2400" dirty="0">
                <a:solidFill>
                  <a:srgbClr val="00FF00"/>
                </a:solidFill>
                <a:effectLst/>
                <a:latin typeface="Times New Roman" panose="02020603050405020304" pitchFamily="18" charset="0"/>
                <a:cs typeface="Times New Roman" panose="02020603050405020304" pitchFamily="18" charset="0"/>
              </a:rPr>
              <a:t>0</a:t>
            </a:r>
            <a:r>
              <a:rPr lang="pt-BR" sz="2400" dirty="0">
                <a:solidFill>
                  <a:srgbClr val="FFFFFF"/>
                </a:solidFill>
                <a:effectLst/>
                <a:latin typeface="Times New Roman" panose="02020603050405020304" pitchFamily="18" charset="0"/>
                <a:cs typeface="Times New Roman" panose="02020603050405020304" pitchFamily="18" charset="0"/>
              </a:rPr>
              <a:t> </a:t>
            </a:r>
            <a:r>
              <a:rPr lang="pt-BR" sz="2400" b="1" dirty="0">
                <a:solidFill>
                  <a:srgbClr val="FFFFFF"/>
                </a:solidFill>
                <a:effectLst/>
                <a:latin typeface="Times New Roman" panose="02020603050405020304" pitchFamily="18" charset="0"/>
                <a:cs typeface="Times New Roman" panose="02020603050405020304" pitchFamily="18" charset="0"/>
              </a:rPr>
              <a:t>|</a:t>
            </a:r>
            <a:r>
              <a:rPr lang="pt-BR" sz="2400" dirty="0">
                <a:solidFill>
                  <a:srgbClr val="FFFFFF"/>
                </a:solidFill>
                <a:effectLst/>
                <a:latin typeface="Times New Roman" panose="02020603050405020304" pitchFamily="18" charset="0"/>
                <a:cs typeface="Times New Roman" panose="02020603050405020304" pitchFamily="18" charset="0"/>
              </a:rPr>
              <a:t> </a:t>
            </a:r>
            <a:r>
              <a:rPr lang="pt-BR" sz="2400" dirty="0">
                <a:solidFill>
                  <a:srgbClr val="D37295"/>
                </a:solidFill>
                <a:effectLst/>
                <a:latin typeface="Times New Roman" panose="02020603050405020304" pitchFamily="18" charset="0"/>
                <a:cs typeface="Times New Roman" panose="02020603050405020304" pitchFamily="18" charset="0"/>
              </a:rPr>
              <a:t>1</a:t>
            </a:r>
            <a:endParaRPr lang="pt-BR" sz="2400" dirty="0">
              <a:effectLst/>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7BD03FF9-D8D1-BA10-9994-A1F7AA8C7D2F}"/>
              </a:ext>
            </a:extLst>
          </p:cNvPr>
          <p:cNvSpPr txBox="1"/>
          <p:nvPr/>
        </p:nvSpPr>
        <p:spPr>
          <a:xfrm>
            <a:off x="3860007" y="2177325"/>
            <a:ext cx="4471986" cy="3785652"/>
          </a:xfrm>
          <a:prstGeom prst="rect">
            <a:avLst/>
          </a:prstGeom>
          <a:noFill/>
        </p:spPr>
        <p:txBody>
          <a:bodyPr wrap="square">
            <a:spAutoFit/>
          </a:bodyPr>
          <a:lstStyle/>
          <a:p>
            <a:pPr>
              <a:buNone/>
            </a:pPr>
            <a:r>
              <a:rPr lang="en-US" sz="2400" dirty="0">
                <a:solidFill>
                  <a:srgbClr val="544EFF"/>
                </a:solidFill>
                <a:effectLst/>
                <a:latin typeface="Times New Roman" panose="02020603050405020304" pitchFamily="18" charset="0"/>
                <a:cs typeface="Times New Roman" panose="02020603050405020304" pitchFamily="18" charset="0"/>
              </a:rPr>
              <a:t>Total Popular Votes = 48</a:t>
            </a:r>
            <a:endParaRPr lang="en-US" sz="800" dirty="0">
              <a:solidFill>
                <a:srgbClr val="544EFF"/>
              </a:solidFill>
              <a:effectLst/>
              <a:latin typeface="Times New Roman" panose="02020603050405020304" pitchFamily="18" charset="0"/>
              <a:cs typeface="Times New Roman" panose="02020603050405020304" pitchFamily="18" charset="0"/>
            </a:endParaRPr>
          </a:p>
          <a:p>
            <a:pPr>
              <a:buNone/>
            </a:pPr>
            <a:endParaRPr lang="en-US" sz="800" dirty="0">
              <a:solidFill>
                <a:srgbClr val="666666"/>
              </a:solidFill>
              <a:effectLst/>
              <a:latin typeface="Times New Roman" panose="02020603050405020304" pitchFamily="18" charset="0"/>
              <a:cs typeface="Times New Roman" panose="02020603050405020304" pitchFamily="18" charset="0"/>
            </a:endParaRPr>
          </a:p>
          <a:p>
            <a:pPr>
              <a:buNone/>
            </a:pPr>
            <a:r>
              <a:rPr lang="en-US" sz="2400" dirty="0">
                <a:solidFill>
                  <a:srgbClr val="00AAFF"/>
                </a:solidFill>
                <a:effectLst/>
                <a:latin typeface="Times New Roman" panose="02020603050405020304" pitchFamily="18" charset="0"/>
                <a:cs typeface="Times New Roman" panose="02020603050405020304" pitchFamily="18" charset="0"/>
              </a:rPr>
              <a:t>Total Number of EC Votes = 6</a:t>
            </a:r>
            <a:endParaRPr lang="en-US" sz="800" dirty="0">
              <a:solidFill>
                <a:srgbClr val="00AAFF"/>
              </a:solidFill>
              <a:effectLst/>
              <a:latin typeface="Times New Roman" panose="02020603050405020304" pitchFamily="18" charset="0"/>
              <a:cs typeface="Times New Roman" panose="02020603050405020304" pitchFamily="18" charset="0"/>
            </a:endParaRPr>
          </a:p>
          <a:p>
            <a:pPr>
              <a:buNone/>
            </a:pPr>
            <a:endParaRPr lang="en-US" sz="800" dirty="0">
              <a:effectLst/>
              <a:latin typeface="Times New Roman" panose="02020603050405020304" pitchFamily="18" charset="0"/>
              <a:cs typeface="Times New Roman" panose="02020603050405020304" pitchFamily="18" charset="0"/>
            </a:endParaRPr>
          </a:p>
          <a:p>
            <a:pPr>
              <a:buNone/>
            </a:pPr>
            <a:r>
              <a:rPr lang="en-US" sz="2400" dirty="0">
                <a:solidFill>
                  <a:srgbClr val="73FFF6"/>
                </a:solidFill>
                <a:effectLst/>
                <a:latin typeface="Times New Roman" panose="02020603050405020304" pitchFamily="18" charset="0"/>
                <a:cs typeface="Times New Roman" panose="02020603050405020304" pitchFamily="18" charset="0"/>
              </a:rPr>
              <a:t>- Number of Representatives = 4</a:t>
            </a:r>
            <a:endParaRPr lang="en-US" sz="2400" dirty="0">
              <a:effectLst/>
              <a:latin typeface="Times New Roman" panose="02020603050405020304" pitchFamily="18" charset="0"/>
              <a:cs typeface="Times New Roman" panose="02020603050405020304" pitchFamily="18" charset="0"/>
            </a:endParaRPr>
          </a:p>
          <a:p>
            <a:pPr marL="342900" indent="-342900">
              <a:buFontTx/>
              <a:buChar char="-"/>
            </a:pPr>
            <a:r>
              <a:rPr lang="en-US" sz="2400" dirty="0">
                <a:solidFill>
                  <a:srgbClr val="C5F7FF"/>
                </a:solidFill>
                <a:effectLst/>
                <a:latin typeface="Times New Roman" panose="02020603050405020304" pitchFamily="18" charset="0"/>
                <a:cs typeface="Times New Roman" panose="02020603050405020304" pitchFamily="18" charset="0"/>
              </a:rPr>
              <a:t>Number of Senators = 2</a:t>
            </a:r>
          </a:p>
          <a:p>
            <a:pPr marL="342900" indent="-342900">
              <a:buFontTx/>
              <a:buChar char="-"/>
            </a:pPr>
            <a:endParaRPr lang="en-US" sz="800" dirty="0">
              <a:solidFill>
                <a:srgbClr val="666666"/>
              </a:solidFill>
              <a:effectLst/>
              <a:latin typeface="Times New Roman" panose="02020603050405020304" pitchFamily="18" charset="0"/>
              <a:cs typeface="Times New Roman" panose="02020603050405020304" pitchFamily="18" charset="0"/>
            </a:endParaRPr>
          </a:p>
          <a:p>
            <a:pPr>
              <a:buNone/>
            </a:pPr>
            <a:r>
              <a:rPr lang="en-US" sz="2400" dirty="0">
                <a:solidFill>
                  <a:srgbClr val="F28E2B"/>
                </a:solidFill>
                <a:effectLst/>
                <a:latin typeface="Times New Roman" panose="02020603050405020304" pitchFamily="18" charset="0"/>
                <a:cs typeface="Times New Roman" panose="02020603050405020304" pitchFamily="18" charset="0"/>
              </a:rPr>
              <a:t>Candidate A popular votes = 22</a:t>
            </a:r>
          </a:p>
          <a:p>
            <a:pPr>
              <a:buNone/>
            </a:pPr>
            <a:endParaRPr lang="en-US" sz="800" dirty="0">
              <a:solidFill>
                <a:srgbClr val="666666"/>
              </a:solidFill>
              <a:effectLst/>
              <a:latin typeface="Times New Roman" panose="02020603050405020304" pitchFamily="18" charset="0"/>
              <a:cs typeface="Times New Roman" panose="02020603050405020304" pitchFamily="18" charset="0"/>
            </a:endParaRPr>
          </a:p>
          <a:p>
            <a:pPr>
              <a:buNone/>
            </a:pPr>
            <a:r>
              <a:rPr lang="en-US" sz="2400" dirty="0">
                <a:solidFill>
                  <a:srgbClr val="1DFF30"/>
                </a:solidFill>
                <a:effectLst/>
                <a:latin typeface="Times New Roman" panose="02020603050405020304" pitchFamily="18" charset="0"/>
                <a:cs typeface="Times New Roman" panose="02020603050405020304" pitchFamily="18" charset="0"/>
              </a:rPr>
              <a:t>Candidate B popular votes = 8</a:t>
            </a:r>
          </a:p>
          <a:p>
            <a:pPr>
              <a:buNone/>
            </a:pPr>
            <a:endParaRPr lang="en-US" sz="800" dirty="0">
              <a:effectLst/>
              <a:latin typeface="Times New Roman" panose="02020603050405020304" pitchFamily="18" charset="0"/>
              <a:cs typeface="Times New Roman" panose="02020603050405020304" pitchFamily="18" charset="0"/>
            </a:endParaRPr>
          </a:p>
          <a:p>
            <a:pPr>
              <a:buNone/>
            </a:pPr>
            <a:r>
              <a:rPr lang="en-US" sz="2400" dirty="0">
                <a:solidFill>
                  <a:srgbClr val="D37295"/>
                </a:solidFill>
                <a:effectLst/>
                <a:latin typeface="Times New Roman" panose="02020603050405020304" pitchFamily="18" charset="0"/>
                <a:cs typeface="Times New Roman" panose="02020603050405020304" pitchFamily="18" charset="0"/>
              </a:rPr>
              <a:t>Candidate C popular votes = 18</a:t>
            </a:r>
          </a:p>
          <a:p>
            <a:pPr>
              <a:buNone/>
            </a:pPr>
            <a:endParaRPr lang="en-US" sz="800" dirty="0">
              <a:effectLst/>
              <a:latin typeface="Times New Roman" panose="02020603050405020304" pitchFamily="18" charset="0"/>
              <a:cs typeface="Times New Roman" panose="02020603050405020304" pitchFamily="18" charset="0"/>
            </a:endParaRPr>
          </a:p>
          <a:p>
            <a:pPr>
              <a:buNone/>
            </a:pPr>
            <a:r>
              <a:rPr lang="en-US" sz="2400" dirty="0">
                <a:solidFill>
                  <a:srgbClr val="FFFFFF"/>
                </a:solidFill>
                <a:effectLst/>
                <a:latin typeface="Times New Roman" panose="02020603050405020304" pitchFamily="18" charset="0"/>
                <a:cs typeface="Times New Roman" panose="02020603050405020304" pitchFamily="18" charset="0"/>
              </a:rPr>
              <a:t>Remainder = R</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003496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A48F974-B23B-9E95-6D91-9E9666CAB46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7E1C7B8-CA0E-9324-864F-539DB01A29C7}"/>
              </a:ext>
            </a:extLst>
          </p:cNvPr>
          <p:cNvSpPr txBox="1"/>
          <p:nvPr/>
        </p:nvSpPr>
        <p:spPr>
          <a:xfrm>
            <a:off x="228600" y="164664"/>
            <a:ext cx="11765756" cy="1631216"/>
          </a:xfrm>
          <a:prstGeom prst="rect">
            <a:avLst/>
          </a:prstGeom>
          <a:noFill/>
        </p:spPr>
        <p:txBody>
          <a:bodyPr wrap="square">
            <a:spAutoFit/>
          </a:bodyPr>
          <a:lstStyle/>
          <a:p>
            <a:r>
              <a:rPr lang="en-US" sz="2000" dirty="0">
                <a:solidFill>
                  <a:srgbClr val="FFFFFF"/>
                </a:solidFill>
                <a:effectLst/>
                <a:latin typeface="Times New Roman" panose="02020603050405020304" pitchFamily="18" charset="0"/>
              </a:rPr>
              <a:t>After the initial awarding of Electoral College Votes, the remaining unawarded Electoral College Votes are calculated by subtracting the awarded Electoral College Votes from the state's Electoral College Vote total in the Full Divide method and the state's Representative Electoral College number in the Nebraska-like method. The popular vote remainders are ranked highest to lowest and one Electoral College vote is awarded to each candidate in rank order until no Electoral College Votes remain.</a:t>
            </a:r>
            <a:endParaRPr lang="en-US" sz="2000" dirty="0"/>
          </a:p>
        </p:txBody>
      </p:sp>
      <p:sp>
        <p:nvSpPr>
          <p:cNvPr id="5" name="TextBox 4">
            <a:extLst>
              <a:ext uri="{FF2B5EF4-FFF2-40B4-BE49-F238E27FC236}">
                <a16:creationId xmlns:a16="http://schemas.microsoft.com/office/drawing/2014/main" id="{8CF23654-B05D-059F-6BF0-AA6396B5AD18}"/>
              </a:ext>
            </a:extLst>
          </p:cNvPr>
          <p:cNvSpPr txBox="1"/>
          <p:nvPr/>
        </p:nvSpPr>
        <p:spPr>
          <a:xfrm>
            <a:off x="119063" y="1911310"/>
            <a:ext cx="4007643" cy="4770537"/>
          </a:xfrm>
          <a:prstGeom prst="rect">
            <a:avLst/>
          </a:prstGeom>
          <a:noFill/>
        </p:spPr>
        <p:txBody>
          <a:bodyPr wrap="square">
            <a:spAutoFit/>
          </a:bodyPr>
          <a:lstStyle/>
          <a:p>
            <a:pPr algn="ctr">
              <a:buNone/>
            </a:pPr>
            <a:r>
              <a:rPr lang="en-US" sz="3600" b="1" dirty="0">
                <a:solidFill>
                  <a:srgbClr val="F17B79"/>
                </a:solidFill>
                <a:effectLst/>
                <a:latin typeface="Times New Roman" panose="02020603050405020304" pitchFamily="18" charset="0"/>
                <a:cs typeface="Times New Roman" panose="02020603050405020304" pitchFamily="18" charset="0"/>
              </a:rPr>
              <a:t>Full Divide</a:t>
            </a:r>
            <a:endParaRPr lang="en-US" sz="3600" dirty="0">
              <a:effectLst/>
              <a:latin typeface="Times New Roman" panose="02020603050405020304" pitchFamily="18" charset="0"/>
              <a:cs typeface="Times New Roman" panose="02020603050405020304" pitchFamily="18" charset="0"/>
            </a:endParaRPr>
          </a:p>
          <a:p>
            <a:pPr algn="ctr">
              <a:buNone/>
            </a:pPr>
            <a:endParaRPr lang="en-US" sz="2800" dirty="0">
              <a:solidFill>
                <a:srgbClr val="666666"/>
              </a:solidFill>
              <a:effectLst/>
              <a:latin typeface="Times New Roman" panose="02020603050405020304" pitchFamily="18" charset="0"/>
              <a:cs typeface="Times New Roman" panose="02020603050405020304" pitchFamily="18" charset="0"/>
            </a:endParaRPr>
          </a:p>
          <a:p>
            <a:pPr algn="ctr">
              <a:buNone/>
            </a:pPr>
            <a:r>
              <a:rPr lang="en-US" sz="2800" dirty="0">
                <a:solidFill>
                  <a:srgbClr val="53C9FF"/>
                </a:solidFill>
                <a:effectLst/>
                <a:latin typeface="Times New Roman" panose="02020603050405020304" pitchFamily="18" charset="0"/>
                <a:cs typeface="Times New Roman" panose="02020603050405020304" pitchFamily="18" charset="0"/>
              </a:rPr>
              <a:t>6 </a:t>
            </a:r>
            <a:r>
              <a:rPr lang="en-US" sz="2800" dirty="0">
                <a:solidFill>
                  <a:srgbClr val="FFFFFF"/>
                </a:solidFill>
                <a:effectLst/>
                <a:latin typeface="Times New Roman" panose="02020603050405020304" pitchFamily="18" charset="0"/>
                <a:cs typeface="Times New Roman" panose="02020603050405020304" pitchFamily="18" charset="0"/>
              </a:rPr>
              <a:t>- (</a:t>
            </a:r>
            <a:r>
              <a:rPr lang="en-US" sz="2800" dirty="0">
                <a:solidFill>
                  <a:srgbClr val="F9A655"/>
                </a:solidFill>
                <a:effectLst/>
                <a:latin typeface="Times New Roman" panose="02020603050405020304" pitchFamily="18" charset="0"/>
                <a:cs typeface="Times New Roman" panose="02020603050405020304" pitchFamily="18" charset="0"/>
              </a:rPr>
              <a:t>2</a:t>
            </a:r>
            <a:r>
              <a:rPr lang="en-US" sz="2800" dirty="0">
                <a:solidFill>
                  <a:srgbClr val="FFFFFF"/>
                </a:solidFill>
                <a:effectLst/>
                <a:latin typeface="Times New Roman" panose="02020603050405020304" pitchFamily="18" charset="0"/>
                <a:cs typeface="Times New Roman" panose="02020603050405020304" pitchFamily="18" charset="0"/>
              </a:rPr>
              <a:t> + </a:t>
            </a:r>
            <a:r>
              <a:rPr lang="en-US" sz="2800" dirty="0">
                <a:solidFill>
                  <a:srgbClr val="00FF00"/>
                </a:solidFill>
                <a:effectLst/>
                <a:latin typeface="Times New Roman" panose="02020603050405020304" pitchFamily="18" charset="0"/>
                <a:cs typeface="Times New Roman" panose="02020603050405020304" pitchFamily="18" charset="0"/>
              </a:rPr>
              <a:t>1</a:t>
            </a:r>
            <a:r>
              <a:rPr lang="en-US" sz="2800" dirty="0">
                <a:solidFill>
                  <a:srgbClr val="FFFFFF"/>
                </a:solidFill>
                <a:effectLst/>
                <a:latin typeface="Times New Roman" panose="02020603050405020304" pitchFamily="18" charset="0"/>
                <a:cs typeface="Times New Roman" panose="02020603050405020304" pitchFamily="18" charset="0"/>
              </a:rPr>
              <a:t> + </a:t>
            </a:r>
            <a:r>
              <a:rPr lang="en-US" sz="2800" dirty="0">
                <a:solidFill>
                  <a:srgbClr val="D37295"/>
                </a:solidFill>
                <a:effectLst/>
                <a:latin typeface="Times New Roman" panose="02020603050405020304" pitchFamily="18" charset="0"/>
                <a:cs typeface="Times New Roman" panose="02020603050405020304" pitchFamily="18" charset="0"/>
              </a:rPr>
              <a:t>2</a:t>
            </a:r>
            <a:r>
              <a:rPr lang="en-US" sz="2800" dirty="0">
                <a:solidFill>
                  <a:srgbClr val="FFFFFF"/>
                </a:solidFill>
                <a:effectLst/>
                <a:latin typeface="Times New Roman" panose="02020603050405020304" pitchFamily="18" charset="0"/>
                <a:cs typeface="Times New Roman" panose="02020603050405020304" pitchFamily="18" charset="0"/>
              </a:rPr>
              <a:t>) = 1</a:t>
            </a:r>
          </a:p>
          <a:p>
            <a:pPr algn="ctr">
              <a:buNone/>
            </a:pPr>
            <a:endParaRPr lang="en-US" sz="2800" dirty="0">
              <a:effectLst/>
              <a:latin typeface="Times New Roman" panose="02020603050405020304" pitchFamily="18" charset="0"/>
              <a:cs typeface="Times New Roman" panose="02020603050405020304" pitchFamily="18" charset="0"/>
            </a:endParaRPr>
          </a:p>
          <a:p>
            <a:pPr algn="ctr">
              <a:buNone/>
            </a:pPr>
            <a:r>
              <a:rPr lang="en-US" sz="2800" dirty="0">
                <a:solidFill>
                  <a:srgbClr val="F28E2B"/>
                </a:solidFill>
                <a:effectLst/>
                <a:latin typeface="Times New Roman" panose="02020603050405020304" pitchFamily="18" charset="0"/>
                <a:cs typeface="Times New Roman" panose="02020603050405020304" pitchFamily="18" charset="0"/>
              </a:rPr>
              <a:t>Candidate A </a:t>
            </a:r>
            <a:r>
              <a:rPr lang="en-US" sz="2800" dirty="0">
                <a:solidFill>
                  <a:srgbClr val="FFFFFF"/>
                </a:solidFill>
                <a:effectLst/>
                <a:latin typeface="Times New Roman" panose="02020603050405020304" pitchFamily="18" charset="0"/>
                <a:cs typeface="Times New Roman" panose="02020603050405020304" pitchFamily="18" charset="0"/>
              </a:rPr>
              <a:t>R = </a:t>
            </a:r>
            <a:r>
              <a:rPr lang="en-US" sz="2800" dirty="0">
                <a:solidFill>
                  <a:srgbClr val="F9A655"/>
                </a:solidFill>
                <a:effectLst/>
                <a:latin typeface="Times New Roman" panose="02020603050405020304" pitchFamily="18" charset="0"/>
                <a:cs typeface="Times New Roman" panose="02020603050405020304" pitchFamily="18" charset="0"/>
              </a:rPr>
              <a:t>6</a:t>
            </a:r>
          </a:p>
          <a:p>
            <a:pPr algn="ctr">
              <a:buNone/>
            </a:pPr>
            <a:endParaRPr lang="en-US" sz="800" dirty="0">
              <a:effectLst/>
              <a:latin typeface="Times New Roman" panose="02020603050405020304" pitchFamily="18" charset="0"/>
              <a:cs typeface="Times New Roman" panose="02020603050405020304" pitchFamily="18" charset="0"/>
            </a:endParaRPr>
          </a:p>
          <a:p>
            <a:pPr algn="ctr">
              <a:buNone/>
            </a:pPr>
            <a:r>
              <a:rPr lang="en-US" sz="2800" dirty="0">
                <a:solidFill>
                  <a:srgbClr val="D37295"/>
                </a:solidFill>
                <a:effectLst/>
                <a:latin typeface="Times New Roman" panose="02020603050405020304" pitchFamily="18" charset="0"/>
                <a:cs typeface="Times New Roman" panose="02020603050405020304" pitchFamily="18" charset="0"/>
              </a:rPr>
              <a:t>Candidate C</a:t>
            </a:r>
            <a:r>
              <a:rPr lang="en-US" sz="2800" dirty="0">
                <a:solidFill>
                  <a:srgbClr val="FFFFFF"/>
                </a:solidFill>
                <a:effectLst/>
                <a:latin typeface="Times New Roman" panose="02020603050405020304" pitchFamily="18" charset="0"/>
                <a:cs typeface="Times New Roman" panose="02020603050405020304" pitchFamily="18" charset="0"/>
              </a:rPr>
              <a:t> R = </a:t>
            </a:r>
            <a:r>
              <a:rPr lang="en-US" sz="2800" dirty="0">
                <a:solidFill>
                  <a:srgbClr val="D37295"/>
                </a:solidFill>
                <a:effectLst/>
                <a:latin typeface="Times New Roman" panose="02020603050405020304" pitchFamily="18" charset="0"/>
                <a:cs typeface="Times New Roman" panose="02020603050405020304" pitchFamily="18" charset="0"/>
              </a:rPr>
              <a:t>2</a:t>
            </a:r>
          </a:p>
          <a:p>
            <a:pPr algn="ctr">
              <a:buNone/>
            </a:pPr>
            <a:endParaRPr lang="en-US" sz="800" dirty="0">
              <a:effectLst/>
              <a:latin typeface="Times New Roman" panose="02020603050405020304" pitchFamily="18" charset="0"/>
              <a:cs typeface="Times New Roman" panose="02020603050405020304" pitchFamily="18" charset="0"/>
            </a:endParaRPr>
          </a:p>
          <a:p>
            <a:pPr algn="ctr">
              <a:buNone/>
            </a:pPr>
            <a:r>
              <a:rPr lang="en-US" sz="2800" dirty="0">
                <a:solidFill>
                  <a:srgbClr val="1DFF30"/>
                </a:solidFill>
                <a:effectLst/>
                <a:latin typeface="Times New Roman" panose="02020603050405020304" pitchFamily="18" charset="0"/>
                <a:cs typeface="Times New Roman" panose="02020603050405020304" pitchFamily="18" charset="0"/>
              </a:rPr>
              <a:t>Candidate B </a:t>
            </a:r>
            <a:r>
              <a:rPr lang="en-US" sz="2800" dirty="0">
                <a:solidFill>
                  <a:srgbClr val="FFFFFF"/>
                </a:solidFill>
                <a:effectLst/>
                <a:latin typeface="Times New Roman" panose="02020603050405020304" pitchFamily="18" charset="0"/>
                <a:cs typeface="Times New Roman" panose="02020603050405020304" pitchFamily="18" charset="0"/>
              </a:rPr>
              <a:t>R = </a:t>
            </a:r>
            <a:r>
              <a:rPr lang="en-US" sz="2800" dirty="0">
                <a:solidFill>
                  <a:srgbClr val="00FF00"/>
                </a:solidFill>
                <a:effectLst/>
                <a:latin typeface="Times New Roman" panose="02020603050405020304" pitchFamily="18" charset="0"/>
                <a:cs typeface="Times New Roman" panose="02020603050405020304" pitchFamily="18" charset="0"/>
              </a:rPr>
              <a:t>0</a:t>
            </a:r>
            <a:endParaRPr lang="en-US" sz="2800" dirty="0">
              <a:effectLst/>
              <a:latin typeface="Times New Roman" panose="02020603050405020304" pitchFamily="18" charset="0"/>
              <a:cs typeface="Times New Roman" panose="02020603050405020304" pitchFamily="18" charset="0"/>
            </a:endParaRPr>
          </a:p>
          <a:p>
            <a:pPr algn="ctr">
              <a:buNone/>
            </a:pPr>
            <a:br>
              <a:rPr lang="en-US" sz="2800" dirty="0">
                <a:solidFill>
                  <a:srgbClr val="666666"/>
                </a:solidFill>
                <a:effectLst/>
                <a:latin typeface="Times New Roman" panose="02020603050405020304" pitchFamily="18" charset="0"/>
                <a:cs typeface="Times New Roman" panose="02020603050405020304" pitchFamily="18" charset="0"/>
              </a:rPr>
            </a:br>
            <a:r>
              <a:rPr lang="en-US" sz="2800" dirty="0">
                <a:solidFill>
                  <a:srgbClr val="FFFFFF"/>
                </a:solidFill>
                <a:effectLst/>
                <a:latin typeface="Times New Roman" panose="02020603050405020304" pitchFamily="18" charset="0"/>
                <a:cs typeface="Times New Roman" panose="02020603050405020304" pitchFamily="18" charset="0"/>
              </a:rPr>
              <a:t>Electoral Votes Awarded </a:t>
            </a:r>
            <a:endParaRPr lang="en-US" sz="2800" dirty="0">
              <a:effectLst/>
              <a:latin typeface="Times New Roman" panose="02020603050405020304" pitchFamily="18" charset="0"/>
              <a:cs typeface="Times New Roman" panose="02020603050405020304" pitchFamily="18" charset="0"/>
            </a:endParaRPr>
          </a:p>
          <a:p>
            <a:pPr algn="ctr">
              <a:buNone/>
            </a:pPr>
            <a:r>
              <a:rPr lang="en-US" sz="2800" dirty="0">
                <a:solidFill>
                  <a:srgbClr val="F9A655"/>
                </a:solidFill>
                <a:effectLst/>
                <a:latin typeface="Times New Roman" panose="02020603050405020304" pitchFamily="18" charset="0"/>
                <a:cs typeface="Times New Roman" panose="02020603050405020304" pitchFamily="18" charset="0"/>
              </a:rPr>
              <a:t>3</a:t>
            </a:r>
            <a:r>
              <a:rPr lang="en-US" sz="2800" dirty="0">
                <a:solidFill>
                  <a:srgbClr val="FFFFFF"/>
                </a:solidFill>
                <a:effectLst/>
                <a:latin typeface="Times New Roman" panose="02020603050405020304" pitchFamily="18" charset="0"/>
                <a:cs typeface="Times New Roman" panose="02020603050405020304" pitchFamily="18" charset="0"/>
              </a:rPr>
              <a:t> </a:t>
            </a:r>
            <a:r>
              <a:rPr lang="en-US" sz="2800" b="1" dirty="0">
                <a:solidFill>
                  <a:srgbClr val="FFFFFF"/>
                </a:solidFill>
                <a:effectLst/>
                <a:latin typeface="Times New Roman" panose="02020603050405020304" pitchFamily="18" charset="0"/>
                <a:cs typeface="Times New Roman" panose="02020603050405020304" pitchFamily="18" charset="0"/>
              </a:rPr>
              <a:t>|</a:t>
            </a:r>
            <a:r>
              <a:rPr lang="en-US" sz="2800" dirty="0">
                <a:solidFill>
                  <a:srgbClr val="FFFFFF"/>
                </a:solidFill>
                <a:effectLst/>
                <a:latin typeface="Times New Roman" panose="02020603050405020304" pitchFamily="18" charset="0"/>
                <a:cs typeface="Times New Roman" panose="02020603050405020304" pitchFamily="18" charset="0"/>
              </a:rPr>
              <a:t> </a:t>
            </a:r>
            <a:r>
              <a:rPr lang="en-US" sz="2800" dirty="0">
                <a:solidFill>
                  <a:srgbClr val="00FF00"/>
                </a:solidFill>
                <a:effectLst/>
                <a:latin typeface="Times New Roman" panose="02020603050405020304" pitchFamily="18" charset="0"/>
                <a:cs typeface="Times New Roman" panose="02020603050405020304" pitchFamily="18" charset="0"/>
              </a:rPr>
              <a:t>1</a:t>
            </a:r>
            <a:r>
              <a:rPr lang="en-US" sz="2800" dirty="0">
                <a:solidFill>
                  <a:srgbClr val="FFFFFF"/>
                </a:solidFill>
                <a:effectLst/>
                <a:latin typeface="Times New Roman" panose="02020603050405020304" pitchFamily="18" charset="0"/>
                <a:cs typeface="Times New Roman" panose="02020603050405020304" pitchFamily="18" charset="0"/>
              </a:rPr>
              <a:t> </a:t>
            </a:r>
            <a:r>
              <a:rPr lang="en-US" sz="2800" b="1" dirty="0">
                <a:solidFill>
                  <a:srgbClr val="FFFFFF"/>
                </a:solidFill>
                <a:effectLst/>
                <a:latin typeface="Times New Roman" panose="02020603050405020304" pitchFamily="18" charset="0"/>
                <a:cs typeface="Times New Roman" panose="02020603050405020304" pitchFamily="18" charset="0"/>
              </a:rPr>
              <a:t>|</a:t>
            </a:r>
            <a:r>
              <a:rPr lang="en-US" sz="2800" dirty="0">
                <a:solidFill>
                  <a:srgbClr val="FFFFFF"/>
                </a:solidFill>
                <a:effectLst/>
                <a:latin typeface="Times New Roman" panose="02020603050405020304" pitchFamily="18" charset="0"/>
                <a:cs typeface="Times New Roman" panose="02020603050405020304" pitchFamily="18" charset="0"/>
              </a:rPr>
              <a:t> </a:t>
            </a:r>
            <a:r>
              <a:rPr lang="en-US" sz="2800" dirty="0">
                <a:solidFill>
                  <a:srgbClr val="D37295"/>
                </a:solidFill>
                <a:effectLst/>
                <a:latin typeface="Times New Roman" panose="02020603050405020304" pitchFamily="18" charset="0"/>
                <a:cs typeface="Times New Roman" panose="02020603050405020304" pitchFamily="18" charset="0"/>
              </a:rPr>
              <a:t>2</a:t>
            </a:r>
            <a:endParaRPr lang="en-US" sz="2800" dirty="0">
              <a:effectLst/>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D50EF4C4-500A-5931-0F3A-190829B133D7}"/>
              </a:ext>
            </a:extLst>
          </p:cNvPr>
          <p:cNvSpPr txBox="1"/>
          <p:nvPr/>
        </p:nvSpPr>
        <p:spPr>
          <a:xfrm>
            <a:off x="7942063" y="1911309"/>
            <a:ext cx="4130874" cy="4770537"/>
          </a:xfrm>
          <a:prstGeom prst="rect">
            <a:avLst/>
          </a:prstGeom>
          <a:noFill/>
        </p:spPr>
        <p:txBody>
          <a:bodyPr wrap="square">
            <a:spAutoFit/>
          </a:bodyPr>
          <a:lstStyle/>
          <a:p>
            <a:pPr algn="ctr">
              <a:buNone/>
            </a:pPr>
            <a:r>
              <a:rPr lang="en-US" sz="3600" b="1" dirty="0">
                <a:solidFill>
                  <a:srgbClr val="C7BCFF"/>
                </a:solidFill>
                <a:effectLst/>
                <a:latin typeface="Times New Roman" panose="02020603050405020304" pitchFamily="18" charset="0"/>
                <a:cs typeface="Times New Roman" panose="02020603050405020304" pitchFamily="18" charset="0"/>
              </a:rPr>
              <a:t>Nebraska-like</a:t>
            </a:r>
            <a:endParaRPr lang="en-US" sz="3600" dirty="0">
              <a:effectLst/>
              <a:latin typeface="Times New Roman" panose="02020603050405020304" pitchFamily="18" charset="0"/>
              <a:cs typeface="Times New Roman" panose="02020603050405020304" pitchFamily="18" charset="0"/>
            </a:endParaRPr>
          </a:p>
          <a:p>
            <a:pPr algn="ctr">
              <a:buNone/>
            </a:pPr>
            <a:br>
              <a:rPr lang="en-US" sz="2800" dirty="0">
                <a:solidFill>
                  <a:srgbClr val="666666"/>
                </a:solidFill>
                <a:effectLst/>
                <a:latin typeface="Times New Roman" panose="02020603050405020304" pitchFamily="18" charset="0"/>
                <a:cs typeface="Times New Roman" panose="02020603050405020304" pitchFamily="18" charset="0"/>
              </a:rPr>
            </a:br>
            <a:r>
              <a:rPr lang="en-US" sz="2800" dirty="0">
                <a:solidFill>
                  <a:srgbClr val="89FFDC"/>
                </a:solidFill>
                <a:effectLst/>
                <a:latin typeface="Times New Roman" panose="02020603050405020304" pitchFamily="18" charset="0"/>
                <a:cs typeface="Times New Roman" panose="02020603050405020304" pitchFamily="18" charset="0"/>
              </a:rPr>
              <a:t>4 </a:t>
            </a:r>
            <a:r>
              <a:rPr lang="en-US" sz="2800" dirty="0">
                <a:solidFill>
                  <a:srgbClr val="FFFFFF"/>
                </a:solidFill>
                <a:effectLst/>
                <a:latin typeface="Times New Roman" panose="02020603050405020304" pitchFamily="18" charset="0"/>
                <a:cs typeface="Times New Roman" panose="02020603050405020304" pitchFamily="18" charset="0"/>
              </a:rPr>
              <a:t>- (</a:t>
            </a:r>
            <a:r>
              <a:rPr lang="en-US" sz="2800" dirty="0">
                <a:solidFill>
                  <a:srgbClr val="F9A655"/>
                </a:solidFill>
                <a:effectLst/>
                <a:latin typeface="Times New Roman" panose="02020603050405020304" pitchFamily="18" charset="0"/>
                <a:cs typeface="Times New Roman" panose="02020603050405020304" pitchFamily="18" charset="0"/>
              </a:rPr>
              <a:t>1</a:t>
            </a:r>
            <a:r>
              <a:rPr lang="en-US" sz="2800" dirty="0">
                <a:solidFill>
                  <a:srgbClr val="FFFFFF"/>
                </a:solidFill>
                <a:effectLst/>
                <a:latin typeface="Times New Roman" panose="02020603050405020304" pitchFamily="18" charset="0"/>
                <a:cs typeface="Times New Roman" panose="02020603050405020304" pitchFamily="18" charset="0"/>
              </a:rPr>
              <a:t> </a:t>
            </a:r>
            <a:r>
              <a:rPr lang="en-US" sz="2800" b="1" dirty="0">
                <a:solidFill>
                  <a:srgbClr val="FFFFFF"/>
                </a:solidFill>
                <a:effectLst/>
                <a:latin typeface="Times New Roman" panose="02020603050405020304" pitchFamily="18" charset="0"/>
                <a:cs typeface="Times New Roman" panose="02020603050405020304" pitchFamily="18" charset="0"/>
              </a:rPr>
              <a:t>+</a:t>
            </a:r>
            <a:r>
              <a:rPr lang="en-US" sz="2800" dirty="0">
                <a:solidFill>
                  <a:srgbClr val="FFFFFF"/>
                </a:solidFill>
                <a:effectLst/>
                <a:latin typeface="Times New Roman" panose="02020603050405020304" pitchFamily="18" charset="0"/>
                <a:cs typeface="Times New Roman" panose="02020603050405020304" pitchFamily="18" charset="0"/>
              </a:rPr>
              <a:t> </a:t>
            </a:r>
            <a:r>
              <a:rPr lang="en-US" sz="2800" dirty="0">
                <a:solidFill>
                  <a:srgbClr val="00FF00"/>
                </a:solidFill>
                <a:effectLst/>
                <a:latin typeface="Times New Roman" panose="02020603050405020304" pitchFamily="18" charset="0"/>
                <a:cs typeface="Times New Roman" panose="02020603050405020304" pitchFamily="18" charset="0"/>
              </a:rPr>
              <a:t>0</a:t>
            </a:r>
            <a:r>
              <a:rPr lang="en-US" sz="2800" dirty="0">
                <a:solidFill>
                  <a:srgbClr val="FFFFFF"/>
                </a:solidFill>
                <a:effectLst/>
                <a:latin typeface="Times New Roman" panose="02020603050405020304" pitchFamily="18" charset="0"/>
                <a:cs typeface="Times New Roman" panose="02020603050405020304" pitchFamily="18" charset="0"/>
              </a:rPr>
              <a:t> </a:t>
            </a:r>
            <a:r>
              <a:rPr lang="en-US" sz="2800" b="1" dirty="0">
                <a:solidFill>
                  <a:srgbClr val="FFFFFF"/>
                </a:solidFill>
                <a:effectLst/>
                <a:latin typeface="Times New Roman" panose="02020603050405020304" pitchFamily="18" charset="0"/>
                <a:cs typeface="Times New Roman" panose="02020603050405020304" pitchFamily="18" charset="0"/>
              </a:rPr>
              <a:t>+</a:t>
            </a:r>
            <a:r>
              <a:rPr lang="en-US" sz="2800" dirty="0">
                <a:solidFill>
                  <a:srgbClr val="FFFFFF"/>
                </a:solidFill>
                <a:effectLst/>
                <a:latin typeface="Times New Roman" panose="02020603050405020304" pitchFamily="18" charset="0"/>
                <a:cs typeface="Times New Roman" panose="02020603050405020304" pitchFamily="18" charset="0"/>
              </a:rPr>
              <a:t> </a:t>
            </a:r>
            <a:r>
              <a:rPr lang="en-US" sz="2800" dirty="0">
                <a:solidFill>
                  <a:srgbClr val="D37295"/>
                </a:solidFill>
                <a:effectLst/>
                <a:latin typeface="Times New Roman" panose="02020603050405020304" pitchFamily="18" charset="0"/>
                <a:cs typeface="Times New Roman" panose="02020603050405020304" pitchFamily="18" charset="0"/>
              </a:rPr>
              <a:t>1</a:t>
            </a:r>
            <a:r>
              <a:rPr lang="en-US" sz="2800" dirty="0">
                <a:solidFill>
                  <a:srgbClr val="FFFFFF"/>
                </a:solidFill>
                <a:effectLst/>
                <a:latin typeface="Times New Roman" panose="02020603050405020304" pitchFamily="18" charset="0"/>
                <a:cs typeface="Times New Roman" panose="02020603050405020304" pitchFamily="18" charset="0"/>
              </a:rPr>
              <a:t>)</a:t>
            </a:r>
            <a:r>
              <a:rPr lang="en-US" sz="2800" dirty="0">
                <a:solidFill>
                  <a:srgbClr val="53C9FF"/>
                </a:solidFill>
                <a:effectLst/>
                <a:latin typeface="Times New Roman" panose="02020603050405020304" pitchFamily="18" charset="0"/>
                <a:cs typeface="Times New Roman" panose="02020603050405020304" pitchFamily="18" charset="0"/>
              </a:rPr>
              <a:t> </a:t>
            </a:r>
            <a:r>
              <a:rPr lang="en-US" sz="2800" dirty="0">
                <a:solidFill>
                  <a:srgbClr val="FFFFFF"/>
                </a:solidFill>
                <a:effectLst/>
                <a:latin typeface="Times New Roman" panose="02020603050405020304" pitchFamily="18" charset="0"/>
                <a:cs typeface="Times New Roman" panose="02020603050405020304" pitchFamily="18" charset="0"/>
              </a:rPr>
              <a:t>= 2</a:t>
            </a:r>
            <a:endParaRPr lang="en-US" sz="2800" dirty="0">
              <a:effectLst/>
              <a:latin typeface="Times New Roman" panose="02020603050405020304" pitchFamily="18" charset="0"/>
              <a:cs typeface="Times New Roman" panose="02020603050405020304" pitchFamily="18" charset="0"/>
            </a:endParaRPr>
          </a:p>
          <a:p>
            <a:pPr algn="ctr">
              <a:buNone/>
            </a:pPr>
            <a:br>
              <a:rPr lang="en-US" sz="2800" dirty="0">
                <a:solidFill>
                  <a:srgbClr val="666666"/>
                </a:solidFill>
                <a:effectLst/>
                <a:latin typeface="Times New Roman" panose="02020603050405020304" pitchFamily="18" charset="0"/>
                <a:cs typeface="Times New Roman" panose="02020603050405020304" pitchFamily="18" charset="0"/>
              </a:rPr>
            </a:br>
            <a:r>
              <a:rPr lang="en-US" sz="2800" dirty="0">
                <a:solidFill>
                  <a:srgbClr val="F28E2B"/>
                </a:solidFill>
                <a:effectLst/>
                <a:latin typeface="Times New Roman" panose="02020603050405020304" pitchFamily="18" charset="0"/>
                <a:cs typeface="Times New Roman" panose="02020603050405020304" pitchFamily="18" charset="0"/>
              </a:rPr>
              <a:t>Candidate A </a:t>
            </a:r>
            <a:r>
              <a:rPr lang="en-US" sz="2800" dirty="0">
                <a:solidFill>
                  <a:srgbClr val="FFFFFF"/>
                </a:solidFill>
                <a:effectLst/>
                <a:latin typeface="Times New Roman" panose="02020603050405020304" pitchFamily="18" charset="0"/>
                <a:cs typeface="Times New Roman" panose="02020603050405020304" pitchFamily="18" charset="0"/>
              </a:rPr>
              <a:t>R = </a:t>
            </a:r>
            <a:r>
              <a:rPr lang="en-US" sz="2800" dirty="0">
                <a:solidFill>
                  <a:srgbClr val="F9A655"/>
                </a:solidFill>
                <a:effectLst/>
                <a:latin typeface="Times New Roman" panose="02020603050405020304" pitchFamily="18" charset="0"/>
                <a:cs typeface="Times New Roman" panose="02020603050405020304" pitchFamily="18" charset="0"/>
              </a:rPr>
              <a:t>10</a:t>
            </a:r>
            <a:endParaRPr lang="en-US" sz="800" dirty="0">
              <a:solidFill>
                <a:srgbClr val="F9A655"/>
              </a:solidFill>
              <a:effectLst/>
              <a:latin typeface="Times New Roman" panose="02020603050405020304" pitchFamily="18" charset="0"/>
              <a:cs typeface="Times New Roman" panose="02020603050405020304" pitchFamily="18" charset="0"/>
            </a:endParaRPr>
          </a:p>
          <a:p>
            <a:pPr algn="ctr">
              <a:buNone/>
            </a:pPr>
            <a:endParaRPr lang="en-US" sz="800" dirty="0">
              <a:effectLst/>
              <a:latin typeface="Times New Roman" panose="02020603050405020304" pitchFamily="18" charset="0"/>
              <a:cs typeface="Times New Roman" panose="02020603050405020304" pitchFamily="18" charset="0"/>
            </a:endParaRPr>
          </a:p>
          <a:p>
            <a:pPr algn="ctr">
              <a:buNone/>
            </a:pPr>
            <a:r>
              <a:rPr lang="en-US" sz="2800" dirty="0">
                <a:solidFill>
                  <a:srgbClr val="1DFF30"/>
                </a:solidFill>
                <a:effectLst/>
                <a:latin typeface="Times New Roman" panose="02020603050405020304" pitchFamily="18" charset="0"/>
                <a:cs typeface="Times New Roman" panose="02020603050405020304" pitchFamily="18" charset="0"/>
              </a:rPr>
              <a:t>Candidate B </a:t>
            </a:r>
            <a:r>
              <a:rPr lang="en-US" sz="2800" dirty="0">
                <a:solidFill>
                  <a:srgbClr val="FFFFFF"/>
                </a:solidFill>
                <a:effectLst/>
                <a:latin typeface="Times New Roman" panose="02020603050405020304" pitchFamily="18" charset="0"/>
                <a:cs typeface="Times New Roman" panose="02020603050405020304" pitchFamily="18" charset="0"/>
              </a:rPr>
              <a:t>R = </a:t>
            </a:r>
            <a:r>
              <a:rPr lang="en-US" sz="2800" dirty="0">
                <a:solidFill>
                  <a:srgbClr val="00FF00"/>
                </a:solidFill>
                <a:effectLst/>
                <a:latin typeface="Times New Roman" panose="02020603050405020304" pitchFamily="18" charset="0"/>
                <a:cs typeface="Times New Roman" panose="02020603050405020304" pitchFamily="18" charset="0"/>
              </a:rPr>
              <a:t>8</a:t>
            </a:r>
          </a:p>
          <a:p>
            <a:pPr algn="ctr">
              <a:buNone/>
            </a:pPr>
            <a:endParaRPr lang="en-US" sz="800" dirty="0">
              <a:effectLst/>
              <a:latin typeface="Times New Roman" panose="02020603050405020304" pitchFamily="18" charset="0"/>
              <a:cs typeface="Times New Roman" panose="02020603050405020304" pitchFamily="18" charset="0"/>
            </a:endParaRPr>
          </a:p>
          <a:p>
            <a:pPr algn="ctr">
              <a:buNone/>
            </a:pPr>
            <a:r>
              <a:rPr lang="en-US" sz="2800" dirty="0">
                <a:solidFill>
                  <a:srgbClr val="D37295"/>
                </a:solidFill>
                <a:effectLst/>
                <a:latin typeface="Times New Roman" panose="02020603050405020304" pitchFamily="18" charset="0"/>
                <a:cs typeface="Times New Roman" panose="02020603050405020304" pitchFamily="18" charset="0"/>
              </a:rPr>
              <a:t>Candidate C</a:t>
            </a:r>
            <a:r>
              <a:rPr lang="en-US" sz="2800" dirty="0">
                <a:solidFill>
                  <a:srgbClr val="FFFFFF"/>
                </a:solidFill>
                <a:effectLst/>
                <a:latin typeface="Times New Roman" panose="02020603050405020304" pitchFamily="18" charset="0"/>
                <a:cs typeface="Times New Roman" panose="02020603050405020304" pitchFamily="18" charset="0"/>
              </a:rPr>
              <a:t> R = </a:t>
            </a:r>
            <a:r>
              <a:rPr lang="en-US" sz="2800" dirty="0">
                <a:solidFill>
                  <a:srgbClr val="D37295"/>
                </a:solidFill>
                <a:effectLst/>
                <a:latin typeface="Times New Roman" panose="02020603050405020304" pitchFamily="18" charset="0"/>
                <a:cs typeface="Times New Roman" panose="02020603050405020304" pitchFamily="18" charset="0"/>
              </a:rPr>
              <a:t>6</a:t>
            </a:r>
            <a:endParaRPr lang="en-US" sz="2800" dirty="0">
              <a:effectLst/>
              <a:latin typeface="Times New Roman" panose="02020603050405020304" pitchFamily="18" charset="0"/>
              <a:cs typeface="Times New Roman" panose="02020603050405020304" pitchFamily="18" charset="0"/>
            </a:endParaRPr>
          </a:p>
          <a:p>
            <a:pPr algn="ctr">
              <a:buNone/>
            </a:pPr>
            <a:br>
              <a:rPr lang="en-US" sz="2800" dirty="0">
                <a:solidFill>
                  <a:srgbClr val="666666"/>
                </a:solidFill>
                <a:effectLst/>
                <a:latin typeface="Times New Roman" panose="02020603050405020304" pitchFamily="18" charset="0"/>
                <a:cs typeface="Times New Roman" panose="02020603050405020304" pitchFamily="18" charset="0"/>
              </a:rPr>
            </a:br>
            <a:r>
              <a:rPr lang="en-US" sz="2800" dirty="0">
                <a:solidFill>
                  <a:srgbClr val="FFFFFF"/>
                </a:solidFill>
                <a:effectLst/>
                <a:latin typeface="Times New Roman" panose="02020603050405020304" pitchFamily="18" charset="0"/>
                <a:cs typeface="Times New Roman" panose="02020603050405020304" pitchFamily="18" charset="0"/>
              </a:rPr>
              <a:t>Electoral Votes Awarded </a:t>
            </a:r>
            <a:endParaRPr lang="en-US" sz="2800" dirty="0">
              <a:effectLst/>
              <a:latin typeface="Times New Roman" panose="02020603050405020304" pitchFamily="18" charset="0"/>
              <a:cs typeface="Times New Roman" panose="02020603050405020304" pitchFamily="18" charset="0"/>
            </a:endParaRPr>
          </a:p>
          <a:p>
            <a:pPr algn="ctr">
              <a:buNone/>
            </a:pPr>
            <a:r>
              <a:rPr lang="en-US" sz="2800" dirty="0">
                <a:solidFill>
                  <a:srgbClr val="F9A655"/>
                </a:solidFill>
                <a:effectLst/>
                <a:latin typeface="Times New Roman" panose="02020603050405020304" pitchFamily="18" charset="0"/>
                <a:cs typeface="Times New Roman" panose="02020603050405020304" pitchFamily="18" charset="0"/>
              </a:rPr>
              <a:t>2</a:t>
            </a:r>
            <a:r>
              <a:rPr lang="en-US" sz="2800" dirty="0">
                <a:solidFill>
                  <a:srgbClr val="FFFFFF"/>
                </a:solidFill>
                <a:effectLst/>
                <a:latin typeface="Times New Roman" panose="02020603050405020304" pitchFamily="18" charset="0"/>
                <a:cs typeface="Times New Roman" panose="02020603050405020304" pitchFamily="18" charset="0"/>
              </a:rPr>
              <a:t> </a:t>
            </a:r>
            <a:r>
              <a:rPr lang="en-US" sz="2800" b="1" dirty="0">
                <a:solidFill>
                  <a:srgbClr val="FFFFFF"/>
                </a:solidFill>
                <a:effectLst/>
                <a:latin typeface="Times New Roman" panose="02020603050405020304" pitchFamily="18" charset="0"/>
                <a:cs typeface="Times New Roman" panose="02020603050405020304" pitchFamily="18" charset="0"/>
              </a:rPr>
              <a:t>|</a:t>
            </a:r>
            <a:r>
              <a:rPr lang="en-US" sz="2800" dirty="0">
                <a:solidFill>
                  <a:srgbClr val="FFFFFF"/>
                </a:solidFill>
                <a:effectLst/>
                <a:latin typeface="Times New Roman" panose="02020603050405020304" pitchFamily="18" charset="0"/>
                <a:cs typeface="Times New Roman" panose="02020603050405020304" pitchFamily="18" charset="0"/>
              </a:rPr>
              <a:t> </a:t>
            </a:r>
            <a:r>
              <a:rPr lang="en-US" sz="2800" dirty="0">
                <a:solidFill>
                  <a:srgbClr val="00FF00"/>
                </a:solidFill>
                <a:effectLst/>
                <a:latin typeface="Times New Roman" panose="02020603050405020304" pitchFamily="18" charset="0"/>
                <a:cs typeface="Times New Roman" panose="02020603050405020304" pitchFamily="18" charset="0"/>
              </a:rPr>
              <a:t>1</a:t>
            </a:r>
            <a:r>
              <a:rPr lang="en-US" sz="2800" dirty="0">
                <a:solidFill>
                  <a:srgbClr val="FFFFFF"/>
                </a:solidFill>
                <a:effectLst/>
                <a:latin typeface="Times New Roman" panose="02020603050405020304" pitchFamily="18" charset="0"/>
                <a:cs typeface="Times New Roman" panose="02020603050405020304" pitchFamily="18" charset="0"/>
              </a:rPr>
              <a:t> </a:t>
            </a:r>
            <a:r>
              <a:rPr lang="en-US" sz="2800" b="1" dirty="0">
                <a:solidFill>
                  <a:srgbClr val="FFFFFF"/>
                </a:solidFill>
                <a:effectLst/>
                <a:latin typeface="Times New Roman" panose="02020603050405020304" pitchFamily="18" charset="0"/>
                <a:cs typeface="Times New Roman" panose="02020603050405020304" pitchFamily="18" charset="0"/>
              </a:rPr>
              <a:t>|</a:t>
            </a:r>
            <a:r>
              <a:rPr lang="en-US" sz="2800" dirty="0">
                <a:solidFill>
                  <a:srgbClr val="FFFFFF"/>
                </a:solidFill>
                <a:effectLst/>
                <a:latin typeface="Times New Roman" panose="02020603050405020304" pitchFamily="18" charset="0"/>
                <a:cs typeface="Times New Roman" panose="02020603050405020304" pitchFamily="18" charset="0"/>
              </a:rPr>
              <a:t> </a:t>
            </a:r>
            <a:r>
              <a:rPr lang="en-US" sz="2800" dirty="0">
                <a:solidFill>
                  <a:srgbClr val="D37295"/>
                </a:solidFill>
                <a:effectLst/>
                <a:latin typeface="Times New Roman" panose="02020603050405020304" pitchFamily="18" charset="0"/>
                <a:cs typeface="Times New Roman" panose="02020603050405020304" pitchFamily="18" charset="0"/>
              </a:rPr>
              <a:t>1</a:t>
            </a:r>
            <a:endParaRPr lang="en-US" sz="2800" dirty="0">
              <a:effectLst/>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C2EA6DB7-8C0F-AB0D-F5DF-09F478A1030E}"/>
              </a:ext>
            </a:extLst>
          </p:cNvPr>
          <p:cNvSpPr txBox="1"/>
          <p:nvPr/>
        </p:nvSpPr>
        <p:spPr>
          <a:xfrm>
            <a:off x="4427338" y="2209353"/>
            <a:ext cx="3514725" cy="3877985"/>
          </a:xfrm>
          <a:prstGeom prst="rect">
            <a:avLst/>
          </a:prstGeom>
          <a:noFill/>
        </p:spPr>
        <p:txBody>
          <a:bodyPr wrap="square">
            <a:spAutoFit/>
          </a:bodyPr>
          <a:lstStyle/>
          <a:p>
            <a:pPr>
              <a:buNone/>
            </a:pPr>
            <a:r>
              <a:rPr lang="en-US" sz="2000" dirty="0">
                <a:solidFill>
                  <a:srgbClr val="544EFF"/>
                </a:solidFill>
                <a:effectLst/>
                <a:latin typeface="Times New Roman" panose="02020603050405020304" pitchFamily="18" charset="0"/>
                <a:cs typeface="Times New Roman" panose="02020603050405020304" pitchFamily="18" charset="0"/>
              </a:rPr>
              <a:t>Total Popular Votes = 48</a:t>
            </a:r>
          </a:p>
          <a:p>
            <a:pPr>
              <a:buNone/>
            </a:pPr>
            <a:endParaRPr lang="en-US" sz="2000" dirty="0">
              <a:solidFill>
                <a:srgbClr val="666666"/>
              </a:solidFill>
              <a:effectLst/>
              <a:latin typeface="Times New Roman" panose="02020603050405020304" pitchFamily="18" charset="0"/>
              <a:cs typeface="Times New Roman" panose="02020603050405020304" pitchFamily="18" charset="0"/>
            </a:endParaRPr>
          </a:p>
          <a:p>
            <a:pPr>
              <a:buNone/>
            </a:pPr>
            <a:r>
              <a:rPr lang="en-US" sz="2000" dirty="0">
                <a:solidFill>
                  <a:srgbClr val="00AAFF"/>
                </a:solidFill>
                <a:effectLst/>
                <a:latin typeface="Times New Roman" panose="02020603050405020304" pitchFamily="18" charset="0"/>
                <a:cs typeface="Times New Roman" panose="02020603050405020304" pitchFamily="18" charset="0"/>
              </a:rPr>
              <a:t>Total Number of EC Votes = 6</a:t>
            </a:r>
          </a:p>
          <a:p>
            <a:pPr>
              <a:buNone/>
            </a:pPr>
            <a:endParaRPr lang="en-US" sz="1000" dirty="0">
              <a:effectLst/>
              <a:latin typeface="Times New Roman" panose="02020603050405020304" pitchFamily="18" charset="0"/>
              <a:cs typeface="Times New Roman" panose="02020603050405020304" pitchFamily="18" charset="0"/>
            </a:endParaRPr>
          </a:p>
          <a:p>
            <a:pPr>
              <a:buNone/>
            </a:pPr>
            <a:r>
              <a:rPr lang="en-US" sz="2000" dirty="0">
                <a:solidFill>
                  <a:srgbClr val="73FFF6"/>
                </a:solidFill>
                <a:effectLst/>
                <a:latin typeface="Times New Roman" panose="02020603050405020304" pitchFamily="18" charset="0"/>
                <a:cs typeface="Times New Roman" panose="02020603050405020304" pitchFamily="18" charset="0"/>
              </a:rPr>
              <a:t>- Number of Representatives = 4</a:t>
            </a:r>
            <a:endParaRPr lang="en-US" sz="2000" dirty="0">
              <a:effectLst/>
              <a:latin typeface="Times New Roman" panose="02020603050405020304" pitchFamily="18" charset="0"/>
              <a:cs typeface="Times New Roman" panose="02020603050405020304" pitchFamily="18" charset="0"/>
            </a:endParaRPr>
          </a:p>
          <a:p>
            <a:r>
              <a:rPr lang="en-US" sz="2000" dirty="0">
                <a:solidFill>
                  <a:srgbClr val="C5F7FF"/>
                </a:solidFill>
                <a:effectLst/>
                <a:latin typeface="Times New Roman" panose="02020603050405020304" pitchFamily="18" charset="0"/>
                <a:cs typeface="Times New Roman" panose="02020603050405020304" pitchFamily="18" charset="0"/>
              </a:rPr>
              <a:t>- Number of Senators = 2</a:t>
            </a:r>
          </a:p>
          <a:p>
            <a:pPr marL="342900" indent="-342900">
              <a:buFontTx/>
              <a:buChar char="-"/>
            </a:pPr>
            <a:endParaRPr lang="en-US" sz="2000" dirty="0">
              <a:solidFill>
                <a:srgbClr val="666666"/>
              </a:solidFill>
              <a:effectLst/>
              <a:latin typeface="Times New Roman" panose="02020603050405020304" pitchFamily="18" charset="0"/>
              <a:cs typeface="Times New Roman" panose="02020603050405020304" pitchFamily="18" charset="0"/>
            </a:endParaRPr>
          </a:p>
          <a:p>
            <a:pPr>
              <a:buNone/>
            </a:pPr>
            <a:r>
              <a:rPr lang="en-US" sz="2000" dirty="0">
                <a:solidFill>
                  <a:srgbClr val="F28E2B"/>
                </a:solidFill>
                <a:effectLst/>
                <a:latin typeface="Times New Roman" panose="02020603050405020304" pitchFamily="18" charset="0"/>
                <a:cs typeface="Times New Roman" panose="02020603050405020304" pitchFamily="18" charset="0"/>
              </a:rPr>
              <a:t>Candidate A popular votes = 22</a:t>
            </a:r>
          </a:p>
          <a:p>
            <a:pPr>
              <a:buNone/>
            </a:pPr>
            <a:endParaRPr lang="en-US" sz="800" dirty="0">
              <a:effectLst/>
              <a:latin typeface="Times New Roman" panose="02020603050405020304" pitchFamily="18" charset="0"/>
              <a:cs typeface="Times New Roman" panose="02020603050405020304" pitchFamily="18" charset="0"/>
            </a:endParaRPr>
          </a:p>
          <a:p>
            <a:pPr>
              <a:buNone/>
            </a:pPr>
            <a:r>
              <a:rPr lang="en-US" sz="2000" dirty="0">
                <a:solidFill>
                  <a:srgbClr val="1DFF30"/>
                </a:solidFill>
                <a:effectLst/>
                <a:latin typeface="Times New Roman" panose="02020603050405020304" pitchFamily="18" charset="0"/>
                <a:cs typeface="Times New Roman" panose="02020603050405020304" pitchFamily="18" charset="0"/>
              </a:rPr>
              <a:t>Candidate B popular votes = 8</a:t>
            </a:r>
          </a:p>
          <a:p>
            <a:pPr>
              <a:buNone/>
            </a:pPr>
            <a:endParaRPr lang="en-US" sz="800" dirty="0">
              <a:effectLst/>
              <a:latin typeface="Times New Roman" panose="02020603050405020304" pitchFamily="18" charset="0"/>
              <a:cs typeface="Times New Roman" panose="02020603050405020304" pitchFamily="18" charset="0"/>
            </a:endParaRPr>
          </a:p>
          <a:p>
            <a:pPr>
              <a:buNone/>
            </a:pPr>
            <a:r>
              <a:rPr lang="en-US" sz="2000" dirty="0">
                <a:solidFill>
                  <a:srgbClr val="D37295"/>
                </a:solidFill>
                <a:effectLst/>
                <a:latin typeface="Times New Roman" panose="02020603050405020304" pitchFamily="18" charset="0"/>
                <a:cs typeface="Times New Roman" panose="02020603050405020304" pitchFamily="18" charset="0"/>
              </a:rPr>
              <a:t>Candidate C popular votes = 18</a:t>
            </a:r>
          </a:p>
          <a:p>
            <a:pPr>
              <a:buNone/>
            </a:pPr>
            <a:endParaRPr lang="en-US" sz="2000" dirty="0">
              <a:effectLst/>
              <a:latin typeface="Times New Roman" panose="02020603050405020304" pitchFamily="18" charset="0"/>
              <a:cs typeface="Times New Roman" panose="02020603050405020304" pitchFamily="18" charset="0"/>
            </a:endParaRPr>
          </a:p>
          <a:p>
            <a:pPr>
              <a:buNone/>
            </a:pPr>
            <a:r>
              <a:rPr lang="en-US" sz="2000" dirty="0">
                <a:solidFill>
                  <a:srgbClr val="FFFFFF"/>
                </a:solidFill>
                <a:effectLst/>
                <a:latin typeface="Times New Roman" panose="02020603050405020304" pitchFamily="18" charset="0"/>
                <a:cs typeface="Times New Roman" panose="02020603050405020304" pitchFamily="18" charset="0"/>
              </a:rPr>
              <a:t>Popular Vote Remainder = R</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807234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D1CA8C8C-AA69-59AD-D274-E9461E770A5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3CB98BA-C9FB-8FFC-4779-E1C122660602}"/>
              </a:ext>
            </a:extLst>
          </p:cNvPr>
          <p:cNvSpPr txBox="1"/>
          <p:nvPr/>
        </p:nvSpPr>
        <p:spPr>
          <a:xfrm>
            <a:off x="161925" y="146001"/>
            <a:ext cx="7124700" cy="3416320"/>
          </a:xfrm>
          <a:prstGeom prst="rect">
            <a:avLst/>
          </a:prstGeom>
          <a:noFill/>
        </p:spPr>
        <p:txBody>
          <a:bodyPr wrap="square">
            <a:spAutoFit/>
          </a:bodyPr>
          <a:lstStyle/>
          <a:p>
            <a:r>
              <a:rPr lang="en-US" sz="2400" dirty="0">
                <a:solidFill>
                  <a:srgbClr val="FFFFFF"/>
                </a:solidFill>
                <a:effectLst/>
                <a:latin typeface="Times New Roman" panose="02020603050405020304" pitchFamily="18" charset="0"/>
              </a:rPr>
              <a:t>The last operation completed the Full Divide method, but the Winner Take All Electoral College Votes and Nebraska-like Senatorial Electoral College Votes are yet to be awarded. As both calculations award their unawarded Electoral College Votes to the plurality winner of the popular vote, all of their votes will be given to Candidate A. The Electoral College Votes by method are shown below and help to understand the </a:t>
            </a:r>
            <a:r>
              <a:rPr lang="en-US" sz="2400" dirty="0">
                <a:solidFill>
                  <a:srgbClr val="FFFFFF"/>
                </a:solidFill>
                <a:latin typeface="Times New Roman" panose="02020603050405020304" pitchFamily="18" charset="0"/>
              </a:rPr>
              <a:t>complexities of these methods</a:t>
            </a:r>
            <a:r>
              <a:rPr lang="en-US" sz="2400" dirty="0">
                <a:solidFill>
                  <a:srgbClr val="FFFFFF"/>
                </a:solidFill>
                <a:effectLst/>
                <a:latin typeface="Times New Roman" panose="02020603050405020304" pitchFamily="18" charset="0"/>
              </a:rPr>
              <a:t>.</a:t>
            </a:r>
            <a:endParaRPr lang="en-US" sz="2400" dirty="0"/>
          </a:p>
        </p:txBody>
      </p:sp>
      <p:sp>
        <p:nvSpPr>
          <p:cNvPr id="5" name="TextBox 4">
            <a:extLst>
              <a:ext uri="{FF2B5EF4-FFF2-40B4-BE49-F238E27FC236}">
                <a16:creationId xmlns:a16="http://schemas.microsoft.com/office/drawing/2014/main" id="{9100E706-41AA-23E0-1F35-319AB95EF60B}"/>
              </a:ext>
            </a:extLst>
          </p:cNvPr>
          <p:cNvSpPr txBox="1"/>
          <p:nvPr/>
        </p:nvSpPr>
        <p:spPr>
          <a:xfrm>
            <a:off x="7449146" y="254706"/>
            <a:ext cx="6097190" cy="3477875"/>
          </a:xfrm>
          <a:prstGeom prst="rect">
            <a:avLst/>
          </a:prstGeom>
          <a:noFill/>
        </p:spPr>
        <p:txBody>
          <a:bodyPr wrap="square">
            <a:spAutoFit/>
          </a:bodyPr>
          <a:lstStyle/>
          <a:p>
            <a:pPr>
              <a:buNone/>
            </a:pPr>
            <a:r>
              <a:rPr lang="en-US" sz="2400" dirty="0">
                <a:solidFill>
                  <a:srgbClr val="544EFF"/>
                </a:solidFill>
                <a:effectLst/>
                <a:latin typeface="Times New Roman" panose="02020603050405020304" pitchFamily="18" charset="0"/>
                <a:cs typeface="Times New Roman" panose="02020603050405020304" pitchFamily="18" charset="0"/>
              </a:rPr>
              <a:t>Total Popular Votes = 48</a:t>
            </a:r>
            <a:endParaRPr lang="en-US" sz="2400" dirty="0">
              <a:effectLst/>
              <a:latin typeface="Times New Roman" panose="02020603050405020304" pitchFamily="18" charset="0"/>
              <a:cs typeface="Times New Roman" panose="02020603050405020304" pitchFamily="18" charset="0"/>
            </a:endParaRPr>
          </a:p>
          <a:p>
            <a:pPr>
              <a:buNone/>
            </a:pPr>
            <a:endParaRPr lang="en-US" sz="1200" dirty="0">
              <a:solidFill>
                <a:srgbClr val="666666"/>
              </a:solidFill>
              <a:effectLst/>
              <a:latin typeface="Times New Roman" panose="02020603050405020304" pitchFamily="18" charset="0"/>
              <a:cs typeface="Times New Roman" panose="02020603050405020304" pitchFamily="18" charset="0"/>
            </a:endParaRPr>
          </a:p>
          <a:p>
            <a:pPr>
              <a:buNone/>
            </a:pPr>
            <a:r>
              <a:rPr lang="en-US" sz="2400" dirty="0">
                <a:solidFill>
                  <a:srgbClr val="00AAFF"/>
                </a:solidFill>
                <a:effectLst/>
                <a:latin typeface="Times New Roman" panose="02020603050405020304" pitchFamily="18" charset="0"/>
                <a:cs typeface="Times New Roman" panose="02020603050405020304" pitchFamily="18" charset="0"/>
              </a:rPr>
              <a:t>Total Number of EC Votes = 6</a:t>
            </a:r>
            <a:endParaRPr lang="en-US" sz="1200" dirty="0">
              <a:latin typeface="Times New Roman" panose="02020603050405020304" pitchFamily="18" charset="0"/>
              <a:cs typeface="Times New Roman" panose="02020603050405020304" pitchFamily="18" charset="0"/>
            </a:endParaRPr>
          </a:p>
          <a:p>
            <a:pPr>
              <a:buNone/>
            </a:pPr>
            <a:br>
              <a:rPr lang="en-US" sz="1200" dirty="0">
                <a:solidFill>
                  <a:srgbClr val="666666"/>
                </a:solidFill>
                <a:effectLst/>
                <a:latin typeface="Times New Roman" panose="02020603050405020304" pitchFamily="18" charset="0"/>
                <a:cs typeface="Times New Roman" panose="02020603050405020304" pitchFamily="18" charset="0"/>
              </a:rPr>
            </a:br>
            <a:r>
              <a:rPr lang="en-US" sz="2400" dirty="0">
                <a:solidFill>
                  <a:srgbClr val="73FFF6"/>
                </a:solidFill>
                <a:effectLst/>
                <a:latin typeface="Times New Roman" panose="02020603050405020304" pitchFamily="18" charset="0"/>
                <a:cs typeface="Times New Roman" panose="02020603050405020304" pitchFamily="18" charset="0"/>
              </a:rPr>
              <a:t>- Number of Representatives = 4</a:t>
            </a:r>
            <a:endParaRPr lang="en-US" sz="2400" dirty="0">
              <a:effectLst/>
              <a:latin typeface="Times New Roman" panose="02020603050405020304" pitchFamily="18" charset="0"/>
              <a:cs typeface="Times New Roman" panose="02020603050405020304" pitchFamily="18" charset="0"/>
            </a:endParaRPr>
          </a:p>
          <a:p>
            <a:pPr>
              <a:buNone/>
            </a:pPr>
            <a:r>
              <a:rPr lang="en-US" sz="2400" dirty="0">
                <a:solidFill>
                  <a:srgbClr val="C5F7FF"/>
                </a:solidFill>
                <a:effectLst/>
                <a:latin typeface="Times New Roman" panose="02020603050405020304" pitchFamily="18" charset="0"/>
                <a:cs typeface="Times New Roman" panose="02020603050405020304" pitchFamily="18" charset="0"/>
              </a:rPr>
              <a:t>- Number of Senators = 2</a:t>
            </a:r>
            <a:endParaRPr lang="en-US" sz="2400" dirty="0">
              <a:effectLst/>
              <a:latin typeface="Times New Roman" panose="02020603050405020304" pitchFamily="18" charset="0"/>
              <a:cs typeface="Times New Roman" panose="02020603050405020304" pitchFamily="18" charset="0"/>
            </a:endParaRPr>
          </a:p>
          <a:p>
            <a:pPr>
              <a:buNone/>
            </a:pPr>
            <a:endParaRPr lang="en-US" sz="1200" dirty="0">
              <a:solidFill>
                <a:srgbClr val="666666"/>
              </a:solidFill>
              <a:effectLst/>
              <a:latin typeface="Times New Roman" panose="02020603050405020304" pitchFamily="18" charset="0"/>
              <a:cs typeface="Times New Roman" panose="02020603050405020304" pitchFamily="18" charset="0"/>
            </a:endParaRPr>
          </a:p>
          <a:p>
            <a:pPr>
              <a:buNone/>
            </a:pPr>
            <a:r>
              <a:rPr lang="en-US" sz="2400" dirty="0">
                <a:solidFill>
                  <a:srgbClr val="F28E2B"/>
                </a:solidFill>
                <a:effectLst/>
                <a:latin typeface="Times New Roman" panose="02020603050405020304" pitchFamily="18" charset="0"/>
                <a:cs typeface="Times New Roman" panose="02020603050405020304" pitchFamily="18" charset="0"/>
              </a:rPr>
              <a:t>Candidate A popular votes = 22</a:t>
            </a:r>
          </a:p>
          <a:p>
            <a:pPr>
              <a:buNone/>
            </a:pPr>
            <a:endParaRPr lang="en-US" sz="800" dirty="0">
              <a:effectLst/>
              <a:latin typeface="Times New Roman" panose="02020603050405020304" pitchFamily="18" charset="0"/>
              <a:cs typeface="Times New Roman" panose="02020603050405020304" pitchFamily="18" charset="0"/>
            </a:endParaRPr>
          </a:p>
          <a:p>
            <a:pPr>
              <a:buNone/>
            </a:pPr>
            <a:r>
              <a:rPr lang="en-US" sz="2400" dirty="0">
                <a:solidFill>
                  <a:srgbClr val="1DFF30"/>
                </a:solidFill>
                <a:effectLst/>
                <a:latin typeface="Times New Roman" panose="02020603050405020304" pitchFamily="18" charset="0"/>
                <a:cs typeface="Times New Roman" panose="02020603050405020304" pitchFamily="18" charset="0"/>
              </a:rPr>
              <a:t>Candidate B popular votes = 8</a:t>
            </a:r>
          </a:p>
          <a:p>
            <a:pPr>
              <a:buNone/>
            </a:pPr>
            <a:endParaRPr lang="en-US" sz="800" dirty="0">
              <a:effectLst/>
              <a:latin typeface="Times New Roman" panose="02020603050405020304" pitchFamily="18" charset="0"/>
              <a:cs typeface="Times New Roman" panose="02020603050405020304" pitchFamily="18" charset="0"/>
            </a:endParaRPr>
          </a:p>
          <a:p>
            <a:pPr>
              <a:buNone/>
            </a:pPr>
            <a:r>
              <a:rPr lang="en-US" sz="2400" dirty="0">
                <a:solidFill>
                  <a:srgbClr val="D37295"/>
                </a:solidFill>
                <a:effectLst/>
                <a:latin typeface="Times New Roman" panose="02020603050405020304" pitchFamily="18" charset="0"/>
                <a:cs typeface="Times New Roman" panose="02020603050405020304" pitchFamily="18" charset="0"/>
              </a:rPr>
              <a:t>Candidate C popular votes = 18</a:t>
            </a:r>
            <a:endParaRPr lang="en-US" sz="2400" dirty="0">
              <a:effectLst/>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6ABD9D01-BDBC-DBCE-5864-EE2526051C01}"/>
              </a:ext>
            </a:extLst>
          </p:cNvPr>
          <p:cNvSpPr txBox="1"/>
          <p:nvPr/>
        </p:nvSpPr>
        <p:spPr>
          <a:xfrm>
            <a:off x="307183" y="3987164"/>
            <a:ext cx="3036093" cy="2369880"/>
          </a:xfrm>
          <a:prstGeom prst="rect">
            <a:avLst/>
          </a:prstGeom>
          <a:noFill/>
        </p:spPr>
        <p:txBody>
          <a:bodyPr wrap="square">
            <a:spAutoFit/>
          </a:bodyPr>
          <a:lstStyle/>
          <a:p>
            <a:pPr algn="ctr">
              <a:buNone/>
            </a:pPr>
            <a:r>
              <a:rPr lang="en-US" sz="3600" b="1" dirty="0">
                <a:solidFill>
                  <a:srgbClr val="F17B79"/>
                </a:solidFill>
                <a:effectLst/>
                <a:latin typeface="Times New Roman" panose="02020603050405020304" pitchFamily="18" charset="0"/>
                <a:cs typeface="Times New Roman" panose="02020603050405020304" pitchFamily="18" charset="0"/>
              </a:rPr>
              <a:t>Full Divide</a:t>
            </a:r>
            <a:endParaRPr lang="en-US" sz="3600" dirty="0">
              <a:effectLst/>
              <a:latin typeface="Times New Roman" panose="02020603050405020304" pitchFamily="18" charset="0"/>
              <a:cs typeface="Times New Roman" panose="02020603050405020304" pitchFamily="18" charset="0"/>
            </a:endParaRPr>
          </a:p>
          <a:p>
            <a:pPr algn="ctr">
              <a:buNone/>
            </a:pPr>
            <a:br>
              <a:rPr lang="en-US" sz="2800" dirty="0">
                <a:solidFill>
                  <a:srgbClr val="666666"/>
                </a:solidFill>
                <a:effectLst/>
                <a:latin typeface="Times New Roman" panose="02020603050405020304" pitchFamily="18" charset="0"/>
                <a:cs typeface="Times New Roman" panose="02020603050405020304" pitchFamily="18" charset="0"/>
              </a:rPr>
            </a:br>
            <a:r>
              <a:rPr lang="en-US" sz="2800" dirty="0">
                <a:solidFill>
                  <a:srgbClr val="FFFFFF"/>
                </a:solidFill>
                <a:effectLst/>
                <a:latin typeface="Times New Roman" panose="02020603050405020304" pitchFamily="18" charset="0"/>
                <a:cs typeface="Times New Roman" panose="02020603050405020304" pitchFamily="18" charset="0"/>
              </a:rPr>
              <a:t>Electoral Votes Awarded </a:t>
            </a:r>
            <a:endParaRPr lang="en-US" sz="2800" dirty="0">
              <a:effectLst/>
              <a:latin typeface="Times New Roman" panose="02020603050405020304" pitchFamily="18" charset="0"/>
              <a:cs typeface="Times New Roman" panose="02020603050405020304" pitchFamily="18" charset="0"/>
            </a:endParaRPr>
          </a:p>
          <a:p>
            <a:pPr algn="ctr">
              <a:buNone/>
            </a:pPr>
            <a:r>
              <a:rPr lang="en-US" sz="2800" dirty="0">
                <a:solidFill>
                  <a:srgbClr val="F9A655"/>
                </a:solidFill>
                <a:effectLst/>
                <a:latin typeface="Times New Roman" panose="02020603050405020304" pitchFamily="18" charset="0"/>
                <a:cs typeface="Times New Roman" panose="02020603050405020304" pitchFamily="18" charset="0"/>
              </a:rPr>
              <a:t>3</a:t>
            </a:r>
            <a:r>
              <a:rPr lang="en-US" sz="2800" dirty="0">
                <a:solidFill>
                  <a:srgbClr val="FFFFFF"/>
                </a:solidFill>
                <a:effectLst/>
                <a:latin typeface="Times New Roman" panose="02020603050405020304" pitchFamily="18" charset="0"/>
                <a:cs typeface="Times New Roman" panose="02020603050405020304" pitchFamily="18" charset="0"/>
              </a:rPr>
              <a:t> </a:t>
            </a:r>
            <a:r>
              <a:rPr lang="en-US" sz="2800" b="1" dirty="0">
                <a:solidFill>
                  <a:srgbClr val="FFFFFF"/>
                </a:solidFill>
                <a:effectLst/>
                <a:latin typeface="Times New Roman" panose="02020603050405020304" pitchFamily="18" charset="0"/>
                <a:cs typeface="Times New Roman" panose="02020603050405020304" pitchFamily="18" charset="0"/>
              </a:rPr>
              <a:t>|</a:t>
            </a:r>
            <a:r>
              <a:rPr lang="en-US" sz="2800" dirty="0">
                <a:solidFill>
                  <a:srgbClr val="FFFFFF"/>
                </a:solidFill>
                <a:effectLst/>
                <a:latin typeface="Times New Roman" panose="02020603050405020304" pitchFamily="18" charset="0"/>
                <a:cs typeface="Times New Roman" panose="02020603050405020304" pitchFamily="18" charset="0"/>
              </a:rPr>
              <a:t> </a:t>
            </a:r>
            <a:r>
              <a:rPr lang="en-US" sz="2800" dirty="0">
                <a:solidFill>
                  <a:srgbClr val="00FF00"/>
                </a:solidFill>
                <a:effectLst/>
                <a:latin typeface="Times New Roman" panose="02020603050405020304" pitchFamily="18" charset="0"/>
                <a:cs typeface="Times New Roman" panose="02020603050405020304" pitchFamily="18" charset="0"/>
              </a:rPr>
              <a:t>1</a:t>
            </a:r>
            <a:r>
              <a:rPr lang="en-US" sz="2800" dirty="0">
                <a:solidFill>
                  <a:srgbClr val="FFFFFF"/>
                </a:solidFill>
                <a:effectLst/>
                <a:latin typeface="Times New Roman" panose="02020603050405020304" pitchFamily="18" charset="0"/>
                <a:cs typeface="Times New Roman" panose="02020603050405020304" pitchFamily="18" charset="0"/>
              </a:rPr>
              <a:t> </a:t>
            </a:r>
            <a:r>
              <a:rPr lang="en-US" sz="2800" b="1" dirty="0">
                <a:solidFill>
                  <a:srgbClr val="FFFFFF"/>
                </a:solidFill>
                <a:effectLst/>
                <a:latin typeface="Times New Roman" panose="02020603050405020304" pitchFamily="18" charset="0"/>
                <a:cs typeface="Times New Roman" panose="02020603050405020304" pitchFamily="18" charset="0"/>
              </a:rPr>
              <a:t>|</a:t>
            </a:r>
            <a:r>
              <a:rPr lang="en-US" sz="2800" dirty="0">
                <a:solidFill>
                  <a:srgbClr val="FFFFFF"/>
                </a:solidFill>
                <a:effectLst/>
                <a:latin typeface="Times New Roman" panose="02020603050405020304" pitchFamily="18" charset="0"/>
                <a:cs typeface="Times New Roman" panose="02020603050405020304" pitchFamily="18" charset="0"/>
              </a:rPr>
              <a:t> </a:t>
            </a:r>
            <a:r>
              <a:rPr lang="en-US" sz="2800" dirty="0">
                <a:solidFill>
                  <a:srgbClr val="D37295"/>
                </a:solidFill>
                <a:effectLst/>
                <a:latin typeface="Times New Roman" panose="02020603050405020304" pitchFamily="18" charset="0"/>
                <a:cs typeface="Times New Roman" panose="02020603050405020304" pitchFamily="18" charset="0"/>
              </a:rPr>
              <a:t>2</a:t>
            </a:r>
            <a:endParaRPr lang="en-US" sz="28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B1ECE4AC-0833-0F96-1CFC-6B0F56ABF5C8}"/>
              </a:ext>
            </a:extLst>
          </p:cNvPr>
          <p:cNvSpPr txBox="1"/>
          <p:nvPr/>
        </p:nvSpPr>
        <p:spPr>
          <a:xfrm>
            <a:off x="3943351" y="3987164"/>
            <a:ext cx="3443287" cy="2369880"/>
          </a:xfrm>
          <a:prstGeom prst="rect">
            <a:avLst/>
          </a:prstGeom>
          <a:noFill/>
        </p:spPr>
        <p:txBody>
          <a:bodyPr wrap="square">
            <a:spAutoFit/>
          </a:bodyPr>
          <a:lstStyle/>
          <a:p>
            <a:pPr algn="ctr">
              <a:buNone/>
            </a:pPr>
            <a:r>
              <a:rPr lang="en-US" sz="3600" b="1" dirty="0">
                <a:solidFill>
                  <a:srgbClr val="C7BCFF"/>
                </a:solidFill>
                <a:effectLst/>
                <a:latin typeface="Times New Roman" panose="02020603050405020304" pitchFamily="18" charset="0"/>
                <a:cs typeface="Times New Roman" panose="02020603050405020304" pitchFamily="18" charset="0"/>
              </a:rPr>
              <a:t>Nebraska-like</a:t>
            </a:r>
            <a:endParaRPr lang="en-US" sz="3600" dirty="0">
              <a:effectLst/>
              <a:latin typeface="Times New Roman" panose="02020603050405020304" pitchFamily="18" charset="0"/>
              <a:cs typeface="Times New Roman" panose="02020603050405020304" pitchFamily="18" charset="0"/>
            </a:endParaRPr>
          </a:p>
          <a:p>
            <a:pPr algn="ctr">
              <a:buNone/>
            </a:pPr>
            <a:br>
              <a:rPr lang="en-US" sz="2800" dirty="0">
                <a:solidFill>
                  <a:srgbClr val="666666"/>
                </a:solidFill>
                <a:effectLst/>
                <a:latin typeface="Times New Roman" panose="02020603050405020304" pitchFamily="18" charset="0"/>
                <a:cs typeface="Times New Roman" panose="02020603050405020304" pitchFamily="18" charset="0"/>
              </a:rPr>
            </a:br>
            <a:r>
              <a:rPr lang="en-US" sz="2800" dirty="0">
                <a:solidFill>
                  <a:srgbClr val="FFFFFF"/>
                </a:solidFill>
                <a:effectLst/>
                <a:latin typeface="Times New Roman" panose="02020603050405020304" pitchFamily="18" charset="0"/>
                <a:cs typeface="Times New Roman" panose="02020603050405020304" pitchFamily="18" charset="0"/>
              </a:rPr>
              <a:t>Electoral Votes Awarded </a:t>
            </a:r>
            <a:endParaRPr lang="en-US" sz="2800" dirty="0">
              <a:effectLst/>
              <a:latin typeface="Times New Roman" panose="02020603050405020304" pitchFamily="18" charset="0"/>
              <a:cs typeface="Times New Roman" panose="02020603050405020304" pitchFamily="18" charset="0"/>
            </a:endParaRPr>
          </a:p>
          <a:p>
            <a:pPr algn="ctr">
              <a:buNone/>
            </a:pPr>
            <a:r>
              <a:rPr lang="en-US" sz="2800" dirty="0">
                <a:solidFill>
                  <a:srgbClr val="F9A655"/>
                </a:solidFill>
                <a:effectLst/>
                <a:latin typeface="Times New Roman" panose="02020603050405020304" pitchFamily="18" charset="0"/>
                <a:cs typeface="Times New Roman" panose="02020603050405020304" pitchFamily="18" charset="0"/>
              </a:rPr>
              <a:t>4</a:t>
            </a:r>
            <a:r>
              <a:rPr lang="en-US" sz="2800" dirty="0">
                <a:solidFill>
                  <a:srgbClr val="FFFFFF"/>
                </a:solidFill>
                <a:effectLst/>
                <a:latin typeface="Times New Roman" panose="02020603050405020304" pitchFamily="18" charset="0"/>
                <a:cs typeface="Times New Roman" panose="02020603050405020304" pitchFamily="18" charset="0"/>
              </a:rPr>
              <a:t> </a:t>
            </a:r>
            <a:r>
              <a:rPr lang="en-US" sz="2800" b="1" dirty="0">
                <a:solidFill>
                  <a:srgbClr val="FFFFFF"/>
                </a:solidFill>
                <a:effectLst/>
                <a:latin typeface="Times New Roman" panose="02020603050405020304" pitchFamily="18" charset="0"/>
                <a:cs typeface="Times New Roman" panose="02020603050405020304" pitchFamily="18" charset="0"/>
              </a:rPr>
              <a:t>|</a:t>
            </a:r>
            <a:r>
              <a:rPr lang="en-US" sz="2800" dirty="0">
                <a:solidFill>
                  <a:srgbClr val="FFFFFF"/>
                </a:solidFill>
                <a:effectLst/>
                <a:latin typeface="Times New Roman" panose="02020603050405020304" pitchFamily="18" charset="0"/>
                <a:cs typeface="Times New Roman" panose="02020603050405020304" pitchFamily="18" charset="0"/>
              </a:rPr>
              <a:t> </a:t>
            </a:r>
            <a:r>
              <a:rPr lang="en-US" sz="2800" dirty="0">
                <a:solidFill>
                  <a:srgbClr val="00FF00"/>
                </a:solidFill>
                <a:effectLst/>
                <a:latin typeface="Times New Roman" panose="02020603050405020304" pitchFamily="18" charset="0"/>
                <a:cs typeface="Times New Roman" panose="02020603050405020304" pitchFamily="18" charset="0"/>
              </a:rPr>
              <a:t>1</a:t>
            </a:r>
            <a:r>
              <a:rPr lang="en-US" sz="2800" dirty="0">
                <a:solidFill>
                  <a:srgbClr val="FFFFFF"/>
                </a:solidFill>
                <a:effectLst/>
                <a:latin typeface="Times New Roman" panose="02020603050405020304" pitchFamily="18" charset="0"/>
                <a:cs typeface="Times New Roman" panose="02020603050405020304" pitchFamily="18" charset="0"/>
              </a:rPr>
              <a:t> </a:t>
            </a:r>
            <a:r>
              <a:rPr lang="en-US" sz="2800" b="1" dirty="0">
                <a:solidFill>
                  <a:srgbClr val="FFFFFF"/>
                </a:solidFill>
                <a:effectLst/>
                <a:latin typeface="Times New Roman" panose="02020603050405020304" pitchFamily="18" charset="0"/>
                <a:cs typeface="Times New Roman" panose="02020603050405020304" pitchFamily="18" charset="0"/>
              </a:rPr>
              <a:t>|</a:t>
            </a:r>
            <a:r>
              <a:rPr lang="en-US" sz="2800" dirty="0">
                <a:solidFill>
                  <a:srgbClr val="FFFFFF"/>
                </a:solidFill>
                <a:effectLst/>
                <a:latin typeface="Times New Roman" panose="02020603050405020304" pitchFamily="18" charset="0"/>
                <a:cs typeface="Times New Roman" panose="02020603050405020304" pitchFamily="18" charset="0"/>
              </a:rPr>
              <a:t> </a:t>
            </a:r>
            <a:r>
              <a:rPr lang="en-US" sz="2800" dirty="0">
                <a:solidFill>
                  <a:srgbClr val="D37295"/>
                </a:solidFill>
                <a:effectLst/>
                <a:latin typeface="Times New Roman" panose="02020603050405020304" pitchFamily="18" charset="0"/>
                <a:cs typeface="Times New Roman" panose="02020603050405020304" pitchFamily="18" charset="0"/>
              </a:rPr>
              <a:t>1</a:t>
            </a:r>
            <a:endParaRPr lang="en-US" sz="2800" dirty="0">
              <a:effectLst/>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E7EDA10A-F0DE-3051-B152-9CC837415E4B}"/>
              </a:ext>
            </a:extLst>
          </p:cNvPr>
          <p:cNvSpPr txBox="1"/>
          <p:nvPr/>
        </p:nvSpPr>
        <p:spPr>
          <a:xfrm>
            <a:off x="7986713" y="3987164"/>
            <a:ext cx="3564730" cy="2369880"/>
          </a:xfrm>
          <a:prstGeom prst="rect">
            <a:avLst/>
          </a:prstGeom>
          <a:noFill/>
        </p:spPr>
        <p:txBody>
          <a:bodyPr wrap="square">
            <a:spAutoFit/>
          </a:bodyPr>
          <a:lstStyle/>
          <a:p>
            <a:pPr algn="ctr">
              <a:buNone/>
            </a:pPr>
            <a:r>
              <a:rPr lang="en-US" sz="3600" b="1" dirty="0">
                <a:solidFill>
                  <a:srgbClr val="53C9FF"/>
                </a:solidFill>
                <a:effectLst/>
                <a:latin typeface="Times New Roman" panose="02020603050405020304" pitchFamily="18" charset="0"/>
              </a:rPr>
              <a:t>Winner Take All</a:t>
            </a:r>
            <a:br>
              <a:rPr lang="en-US" sz="700" dirty="0">
                <a:solidFill>
                  <a:srgbClr val="666666"/>
                </a:solidFill>
                <a:effectLst/>
                <a:latin typeface="Tableau Book"/>
              </a:rPr>
            </a:br>
            <a:endParaRPr lang="en-US" sz="2800" dirty="0">
              <a:solidFill>
                <a:srgbClr val="666666"/>
              </a:solidFill>
              <a:effectLst/>
              <a:latin typeface="Times New Roman" panose="02020603050405020304" pitchFamily="18" charset="0"/>
              <a:cs typeface="Times New Roman" panose="02020603050405020304" pitchFamily="18" charset="0"/>
            </a:endParaRPr>
          </a:p>
          <a:p>
            <a:pPr algn="ctr">
              <a:buNone/>
            </a:pPr>
            <a:r>
              <a:rPr lang="en-US" sz="2800" dirty="0">
                <a:solidFill>
                  <a:srgbClr val="FFFFFF"/>
                </a:solidFill>
                <a:effectLst/>
                <a:latin typeface="Times New Roman" panose="02020603050405020304" pitchFamily="18" charset="0"/>
                <a:cs typeface="Times New Roman" panose="02020603050405020304" pitchFamily="18" charset="0"/>
              </a:rPr>
              <a:t>Electoral Votes Awarded </a:t>
            </a:r>
            <a:endParaRPr lang="en-US" sz="2800" dirty="0">
              <a:effectLst/>
              <a:latin typeface="Times New Roman" panose="02020603050405020304" pitchFamily="18" charset="0"/>
              <a:cs typeface="Times New Roman" panose="02020603050405020304" pitchFamily="18" charset="0"/>
            </a:endParaRPr>
          </a:p>
          <a:p>
            <a:pPr algn="ctr">
              <a:buNone/>
            </a:pPr>
            <a:r>
              <a:rPr lang="en-US" sz="2800" dirty="0">
                <a:solidFill>
                  <a:srgbClr val="F9A655"/>
                </a:solidFill>
                <a:effectLst/>
                <a:latin typeface="Times New Roman" panose="02020603050405020304" pitchFamily="18" charset="0"/>
                <a:cs typeface="Times New Roman" panose="02020603050405020304" pitchFamily="18" charset="0"/>
              </a:rPr>
              <a:t>6</a:t>
            </a:r>
            <a:r>
              <a:rPr lang="en-US" sz="2800" dirty="0">
                <a:solidFill>
                  <a:srgbClr val="FFFFFF"/>
                </a:solidFill>
                <a:effectLst/>
                <a:latin typeface="Times New Roman" panose="02020603050405020304" pitchFamily="18" charset="0"/>
                <a:cs typeface="Times New Roman" panose="02020603050405020304" pitchFamily="18" charset="0"/>
              </a:rPr>
              <a:t> </a:t>
            </a:r>
            <a:r>
              <a:rPr lang="en-US" sz="2800" b="1" dirty="0">
                <a:solidFill>
                  <a:srgbClr val="FFFFFF"/>
                </a:solidFill>
                <a:effectLst/>
                <a:latin typeface="Times New Roman" panose="02020603050405020304" pitchFamily="18" charset="0"/>
                <a:cs typeface="Times New Roman" panose="02020603050405020304" pitchFamily="18" charset="0"/>
              </a:rPr>
              <a:t>|</a:t>
            </a:r>
            <a:r>
              <a:rPr lang="en-US" sz="2800" dirty="0">
                <a:solidFill>
                  <a:srgbClr val="FFFFFF"/>
                </a:solidFill>
                <a:effectLst/>
                <a:latin typeface="Times New Roman" panose="02020603050405020304" pitchFamily="18" charset="0"/>
                <a:cs typeface="Times New Roman" panose="02020603050405020304" pitchFamily="18" charset="0"/>
              </a:rPr>
              <a:t> </a:t>
            </a:r>
            <a:r>
              <a:rPr lang="en-US" sz="2800" dirty="0">
                <a:solidFill>
                  <a:srgbClr val="00FF00"/>
                </a:solidFill>
                <a:effectLst/>
                <a:latin typeface="Times New Roman" panose="02020603050405020304" pitchFamily="18" charset="0"/>
                <a:cs typeface="Times New Roman" panose="02020603050405020304" pitchFamily="18" charset="0"/>
              </a:rPr>
              <a:t>0</a:t>
            </a:r>
            <a:r>
              <a:rPr lang="en-US" sz="2800" dirty="0">
                <a:solidFill>
                  <a:srgbClr val="FFFFFF"/>
                </a:solidFill>
                <a:effectLst/>
                <a:latin typeface="Times New Roman" panose="02020603050405020304" pitchFamily="18" charset="0"/>
                <a:cs typeface="Times New Roman" panose="02020603050405020304" pitchFamily="18" charset="0"/>
              </a:rPr>
              <a:t> </a:t>
            </a:r>
            <a:r>
              <a:rPr lang="en-US" sz="2800" b="1" dirty="0">
                <a:solidFill>
                  <a:srgbClr val="FFFFFF"/>
                </a:solidFill>
                <a:effectLst/>
                <a:latin typeface="Times New Roman" panose="02020603050405020304" pitchFamily="18" charset="0"/>
                <a:cs typeface="Times New Roman" panose="02020603050405020304" pitchFamily="18" charset="0"/>
              </a:rPr>
              <a:t>|</a:t>
            </a:r>
            <a:r>
              <a:rPr lang="en-US" sz="2800" dirty="0">
                <a:solidFill>
                  <a:srgbClr val="FFFFFF"/>
                </a:solidFill>
                <a:effectLst/>
                <a:latin typeface="Times New Roman" panose="02020603050405020304" pitchFamily="18" charset="0"/>
                <a:cs typeface="Times New Roman" panose="02020603050405020304" pitchFamily="18" charset="0"/>
              </a:rPr>
              <a:t> </a:t>
            </a:r>
            <a:r>
              <a:rPr lang="en-US" sz="2800" dirty="0">
                <a:solidFill>
                  <a:srgbClr val="D37295"/>
                </a:solidFill>
                <a:effectLst/>
                <a:latin typeface="Times New Roman" panose="02020603050405020304" pitchFamily="18" charset="0"/>
                <a:cs typeface="Times New Roman" panose="02020603050405020304" pitchFamily="18" charset="0"/>
              </a:rPr>
              <a:t>0</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03435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CCCCFF"/>
        </a:solidFill>
        <a:effectLst/>
      </p:bgPr>
    </p:bg>
    <p:spTree>
      <p:nvGrpSpPr>
        <p:cNvPr id="1" name="">
          <a:extLst>
            <a:ext uri="{FF2B5EF4-FFF2-40B4-BE49-F238E27FC236}">
              <a16:creationId xmlns:a16="http://schemas.microsoft.com/office/drawing/2014/main" id="{652A96D8-0FF8-9C5B-21A5-5E19F0C7320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FDABE2B-96D6-1CA8-A9A5-F053B8432F32}"/>
              </a:ext>
            </a:extLst>
          </p:cNvPr>
          <p:cNvSpPr txBox="1"/>
          <p:nvPr/>
        </p:nvSpPr>
        <p:spPr>
          <a:xfrm>
            <a:off x="114300" y="305068"/>
            <a:ext cx="12191999" cy="6801862"/>
          </a:xfrm>
          <a:prstGeom prst="rect">
            <a:avLst/>
          </a:prstGeom>
          <a:noFill/>
        </p:spPr>
        <p:txBody>
          <a:bodyPr wrap="square">
            <a:spAutoFit/>
          </a:bodyPr>
          <a:lstStyle/>
          <a:p>
            <a:pPr algn="ctr">
              <a:buNone/>
            </a:pPr>
            <a:r>
              <a:rPr lang="en-US" sz="3600" b="1" u="sng" dirty="0">
                <a:solidFill>
                  <a:srgbClr val="000000"/>
                </a:solidFill>
                <a:effectLst/>
                <a:latin typeface="Times New Roman" panose="02020603050405020304" pitchFamily="18" charset="0"/>
                <a:cs typeface="Times New Roman" panose="02020603050405020304" pitchFamily="18" charset="0"/>
              </a:rPr>
              <a:t>Data Sets</a:t>
            </a:r>
            <a:endParaRPr lang="en-US" sz="3600" dirty="0">
              <a:effectLst/>
              <a:latin typeface="Times New Roman" panose="02020603050405020304" pitchFamily="18" charset="0"/>
              <a:cs typeface="Times New Roman" panose="02020603050405020304" pitchFamily="18" charset="0"/>
            </a:endParaRPr>
          </a:p>
          <a:p>
            <a:pPr algn="ctr">
              <a:buNone/>
            </a:pPr>
            <a:endParaRPr lang="en-US" sz="2000" dirty="0">
              <a:solidFill>
                <a:srgbClr val="666666"/>
              </a:solidFill>
              <a:effectLst/>
              <a:latin typeface="Times New Roman" panose="02020603050405020304" pitchFamily="18" charset="0"/>
              <a:cs typeface="Times New Roman" panose="02020603050405020304" pitchFamily="18" charset="0"/>
            </a:endParaRPr>
          </a:p>
          <a:p>
            <a:pPr algn="ctr">
              <a:buNone/>
            </a:pPr>
            <a:endParaRPr lang="en-US" sz="2000" dirty="0">
              <a:solidFill>
                <a:srgbClr val="666666"/>
              </a:solidFill>
              <a:effectLst/>
              <a:latin typeface="Times New Roman" panose="02020603050405020304" pitchFamily="18" charset="0"/>
              <a:cs typeface="Times New Roman" panose="02020603050405020304" pitchFamily="18" charset="0"/>
            </a:endParaRPr>
          </a:p>
          <a:p>
            <a:pPr>
              <a:buNone/>
            </a:pPr>
            <a:r>
              <a:rPr lang="en-US" sz="2000" dirty="0">
                <a:solidFill>
                  <a:srgbClr val="000000"/>
                </a:solidFill>
                <a:effectLst/>
                <a:latin typeface="Times New Roman" panose="02020603050405020304" pitchFamily="18" charset="0"/>
                <a:cs typeface="Times New Roman" panose="02020603050405020304" pitchFamily="18" charset="0"/>
              </a:rPr>
              <a:t>FEC. (2009, July). </a:t>
            </a:r>
            <a:r>
              <a:rPr lang="en-US" sz="2000" i="1" dirty="0">
                <a:solidFill>
                  <a:srgbClr val="000000"/>
                </a:solidFill>
                <a:effectLst/>
                <a:latin typeface="Times New Roman" panose="02020603050405020304" pitchFamily="18" charset="0"/>
                <a:cs typeface="Times New Roman" panose="02020603050405020304" pitchFamily="18" charset="0"/>
              </a:rPr>
              <a:t>Federal elections 2008</a:t>
            </a:r>
            <a:r>
              <a:rPr lang="en-US" sz="2000" dirty="0">
                <a:solidFill>
                  <a:srgbClr val="000000"/>
                </a:solidFill>
                <a:effectLst/>
                <a:latin typeface="Times New Roman" panose="02020603050405020304" pitchFamily="18" charset="0"/>
                <a:cs typeface="Times New Roman" panose="02020603050405020304" pitchFamily="18" charset="0"/>
              </a:rPr>
              <a:t>. [2008 Presidential General Election Results]. FEC.gov. </a:t>
            </a:r>
            <a:r>
              <a:rPr lang="en-US" sz="2000" u="sng" dirty="0">
                <a:solidFill>
                  <a:srgbClr val="0000FF"/>
                </a:solidFill>
                <a:effectLst/>
                <a:latin typeface="Times New Roman" panose="02020603050405020304" pitchFamily="18" charset="0"/>
                <a:cs typeface="Times New Roman" panose="02020603050405020304" pitchFamily="18" charset="0"/>
              </a:rPr>
              <a:t>https://www.fec.gov/introduction-campaign-finance/election-results-and-voting-information/federal-elections-2008/</a:t>
            </a:r>
            <a:r>
              <a:rPr lang="en-US" sz="2000" dirty="0">
                <a:solidFill>
                  <a:srgbClr val="000000"/>
                </a:solidFill>
                <a:effectLst/>
                <a:latin typeface="Times New Roman" panose="02020603050405020304" pitchFamily="18" charset="0"/>
                <a:cs typeface="Times New Roman" panose="02020603050405020304" pitchFamily="18" charset="0"/>
              </a:rPr>
              <a:t> </a:t>
            </a:r>
            <a:endParaRPr lang="en-US" sz="2000" dirty="0">
              <a:effectLst/>
              <a:latin typeface="Times New Roman" panose="02020603050405020304" pitchFamily="18" charset="0"/>
              <a:cs typeface="Times New Roman" panose="02020603050405020304" pitchFamily="18" charset="0"/>
            </a:endParaRPr>
          </a:p>
          <a:p>
            <a:pPr>
              <a:buNone/>
            </a:pPr>
            <a:endParaRPr lang="en-US" sz="2000" dirty="0">
              <a:solidFill>
                <a:srgbClr val="666666"/>
              </a:solidFill>
              <a:effectLst/>
              <a:latin typeface="Times New Roman" panose="02020603050405020304" pitchFamily="18" charset="0"/>
              <a:cs typeface="Times New Roman" panose="02020603050405020304" pitchFamily="18" charset="0"/>
            </a:endParaRPr>
          </a:p>
          <a:p>
            <a:pPr>
              <a:buNone/>
            </a:pPr>
            <a:r>
              <a:rPr lang="en-US" sz="2000" dirty="0">
                <a:solidFill>
                  <a:srgbClr val="000000"/>
                </a:solidFill>
                <a:effectLst/>
                <a:latin typeface="Times New Roman" panose="02020603050405020304" pitchFamily="18" charset="0"/>
                <a:cs typeface="Times New Roman" panose="02020603050405020304" pitchFamily="18" charset="0"/>
              </a:rPr>
              <a:t>Leamon, E. J., &amp; </a:t>
            </a:r>
            <a:r>
              <a:rPr lang="en-US" sz="2000" dirty="0" err="1">
                <a:solidFill>
                  <a:srgbClr val="000000"/>
                </a:solidFill>
                <a:effectLst/>
                <a:latin typeface="Times New Roman" panose="02020603050405020304" pitchFamily="18" charset="0"/>
                <a:cs typeface="Times New Roman" panose="02020603050405020304" pitchFamily="18" charset="0"/>
              </a:rPr>
              <a:t>Bucelato</a:t>
            </a:r>
            <a:r>
              <a:rPr lang="en-US" sz="2000" dirty="0">
                <a:solidFill>
                  <a:srgbClr val="000000"/>
                </a:solidFill>
                <a:effectLst/>
                <a:latin typeface="Times New Roman" panose="02020603050405020304" pitchFamily="18" charset="0"/>
                <a:cs typeface="Times New Roman" panose="02020603050405020304" pitchFamily="18" charset="0"/>
              </a:rPr>
              <a:t>, J. (Eds.). FEC. (2015). </a:t>
            </a:r>
            <a:r>
              <a:rPr lang="en-US" sz="2000" i="1" dirty="0">
                <a:solidFill>
                  <a:srgbClr val="000000"/>
                </a:solidFill>
                <a:effectLst/>
                <a:latin typeface="Times New Roman" panose="02020603050405020304" pitchFamily="18" charset="0"/>
                <a:cs typeface="Times New Roman" panose="02020603050405020304" pitchFamily="18" charset="0"/>
              </a:rPr>
              <a:t>Federal elections 2012</a:t>
            </a:r>
            <a:r>
              <a:rPr lang="en-US" sz="2000" dirty="0">
                <a:solidFill>
                  <a:srgbClr val="000000"/>
                </a:solidFill>
                <a:effectLst/>
                <a:latin typeface="Times New Roman" panose="02020603050405020304" pitchFamily="18" charset="0"/>
                <a:cs typeface="Times New Roman" panose="02020603050405020304" pitchFamily="18" charset="0"/>
              </a:rPr>
              <a:t>. [2012 Presidential Election Results]. FEC.gov. </a:t>
            </a:r>
            <a:r>
              <a:rPr lang="en-US" sz="2000" u="sng" dirty="0">
                <a:solidFill>
                  <a:srgbClr val="0000FF"/>
                </a:solidFill>
                <a:effectLst/>
                <a:latin typeface="Times New Roman" panose="02020603050405020304" pitchFamily="18" charset="0"/>
                <a:cs typeface="Times New Roman" panose="02020603050405020304" pitchFamily="18" charset="0"/>
              </a:rPr>
              <a:t>https://www.fec.gov/introduction-campaign-finance/election-results-and-voting-information/federal-elections-2012/</a:t>
            </a:r>
            <a:r>
              <a:rPr lang="en-US" sz="2000" dirty="0">
                <a:solidFill>
                  <a:srgbClr val="000000"/>
                </a:solidFill>
                <a:effectLst/>
                <a:latin typeface="Times New Roman" panose="02020603050405020304" pitchFamily="18" charset="0"/>
                <a:cs typeface="Times New Roman" panose="02020603050405020304" pitchFamily="18" charset="0"/>
              </a:rPr>
              <a:t> </a:t>
            </a:r>
            <a:endParaRPr lang="en-US" sz="2000" dirty="0">
              <a:effectLst/>
              <a:latin typeface="Times New Roman" panose="02020603050405020304" pitchFamily="18" charset="0"/>
              <a:cs typeface="Times New Roman" panose="02020603050405020304" pitchFamily="18" charset="0"/>
            </a:endParaRPr>
          </a:p>
          <a:p>
            <a:pPr>
              <a:buNone/>
            </a:pPr>
            <a:endParaRPr lang="en-US" sz="2000" dirty="0">
              <a:solidFill>
                <a:srgbClr val="666666"/>
              </a:solidFill>
              <a:effectLst/>
              <a:latin typeface="Times New Roman" panose="02020603050405020304" pitchFamily="18" charset="0"/>
              <a:cs typeface="Times New Roman" panose="02020603050405020304" pitchFamily="18" charset="0"/>
            </a:endParaRPr>
          </a:p>
          <a:p>
            <a:pPr>
              <a:buNone/>
            </a:pPr>
            <a:r>
              <a:rPr lang="en-US" sz="2000" dirty="0">
                <a:solidFill>
                  <a:srgbClr val="000000"/>
                </a:solidFill>
                <a:effectLst/>
                <a:latin typeface="Times New Roman" panose="02020603050405020304" pitchFamily="18" charset="0"/>
                <a:cs typeface="Times New Roman" panose="02020603050405020304" pitchFamily="18" charset="0"/>
              </a:rPr>
              <a:t>Leamon, E. J., &amp; </a:t>
            </a:r>
            <a:r>
              <a:rPr lang="en-US" sz="2000" dirty="0" err="1">
                <a:solidFill>
                  <a:srgbClr val="000000"/>
                </a:solidFill>
                <a:effectLst/>
                <a:latin typeface="Times New Roman" panose="02020603050405020304" pitchFamily="18" charset="0"/>
                <a:cs typeface="Times New Roman" panose="02020603050405020304" pitchFamily="18" charset="0"/>
              </a:rPr>
              <a:t>Bucelato</a:t>
            </a:r>
            <a:r>
              <a:rPr lang="en-US" sz="2000" dirty="0">
                <a:solidFill>
                  <a:srgbClr val="000000"/>
                </a:solidFill>
                <a:effectLst/>
                <a:latin typeface="Times New Roman" panose="02020603050405020304" pitchFamily="18" charset="0"/>
                <a:cs typeface="Times New Roman" panose="02020603050405020304" pitchFamily="18" charset="0"/>
              </a:rPr>
              <a:t>, J. (Eds.). FEC. (2023, Jan.). </a:t>
            </a:r>
            <a:r>
              <a:rPr lang="en-US" sz="2000" i="1" dirty="0">
                <a:solidFill>
                  <a:srgbClr val="000000"/>
                </a:solidFill>
                <a:effectLst/>
                <a:latin typeface="Times New Roman" panose="02020603050405020304" pitchFamily="18" charset="0"/>
                <a:cs typeface="Times New Roman" panose="02020603050405020304" pitchFamily="18" charset="0"/>
              </a:rPr>
              <a:t>Federal elections 2016</a:t>
            </a:r>
            <a:r>
              <a:rPr lang="en-US" sz="2000" dirty="0">
                <a:solidFill>
                  <a:srgbClr val="000000"/>
                </a:solidFill>
                <a:effectLst/>
                <a:latin typeface="Times New Roman" panose="02020603050405020304" pitchFamily="18" charset="0"/>
                <a:cs typeface="Times New Roman" panose="02020603050405020304" pitchFamily="18" charset="0"/>
              </a:rPr>
              <a:t>. [2016 Presidential Election Results]. FEC.gov. </a:t>
            </a:r>
            <a:r>
              <a:rPr lang="en-US" sz="2000" u="sng" dirty="0">
                <a:solidFill>
                  <a:srgbClr val="0000FF"/>
                </a:solidFill>
                <a:effectLst/>
                <a:latin typeface="Times New Roman" panose="02020603050405020304" pitchFamily="18" charset="0"/>
                <a:cs typeface="Times New Roman" panose="02020603050405020304" pitchFamily="18" charset="0"/>
              </a:rPr>
              <a:t>https://www.fec.gov/introduction-campaign-finance/election-results-and-voting-information/federal-elections-2016/</a:t>
            </a:r>
            <a:r>
              <a:rPr lang="en-US" sz="2000" dirty="0">
                <a:solidFill>
                  <a:srgbClr val="000000"/>
                </a:solidFill>
                <a:effectLst/>
                <a:latin typeface="Times New Roman" panose="02020603050405020304" pitchFamily="18" charset="0"/>
                <a:cs typeface="Times New Roman" panose="02020603050405020304" pitchFamily="18" charset="0"/>
              </a:rPr>
              <a:t> </a:t>
            </a:r>
            <a:br>
              <a:rPr lang="en-US" sz="2000" dirty="0">
                <a:solidFill>
                  <a:srgbClr val="666666"/>
                </a:solidFill>
                <a:effectLst/>
                <a:latin typeface="Times New Roman" panose="02020603050405020304" pitchFamily="18" charset="0"/>
                <a:cs typeface="Times New Roman" panose="02020603050405020304" pitchFamily="18" charset="0"/>
              </a:rPr>
            </a:br>
            <a:endParaRPr lang="en-US" sz="2000" dirty="0">
              <a:solidFill>
                <a:srgbClr val="666666"/>
              </a:solidFill>
              <a:effectLst/>
              <a:latin typeface="Times New Roman" panose="02020603050405020304" pitchFamily="18" charset="0"/>
              <a:cs typeface="Times New Roman" panose="02020603050405020304" pitchFamily="18" charset="0"/>
            </a:endParaRPr>
          </a:p>
          <a:p>
            <a:pPr>
              <a:buNone/>
            </a:pPr>
            <a:r>
              <a:rPr lang="en-US" sz="2000" dirty="0">
                <a:solidFill>
                  <a:srgbClr val="000000"/>
                </a:solidFill>
                <a:effectLst/>
                <a:latin typeface="Times New Roman" panose="02020603050405020304" pitchFamily="18" charset="0"/>
                <a:cs typeface="Times New Roman" panose="02020603050405020304" pitchFamily="18" charset="0"/>
              </a:rPr>
              <a:t> Leamon, E. J., &amp; </a:t>
            </a:r>
            <a:r>
              <a:rPr lang="en-US" sz="2000" dirty="0" err="1">
                <a:solidFill>
                  <a:srgbClr val="000000"/>
                </a:solidFill>
                <a:effectLst/>
                <a:latin typeface="Times New Roman" panose="02020603050405020304" pitchFamily="18" charset="0"/>
                <a:cs typeface="Times New Roman" panose="02020603050405020304" pitchFamily="18" charset="0"/>
              </a:rPr>
              <a:t>Bucelato</a:t>
            </a:r>
            <a:r>
              <a:rPr lang="en-US" sz="2000" dirty="0">
                <a:solidFill>
                  <a:srgbClr val="000000"/>
                </a:solidFill>
                <a:effectLst/>
                <a:latin typeface="Times New Roman" panose="02020603050405020304" pitchFamily="18" charset="0"/>
                <a:cs typeface="Times New Roman" panose="02020603050405020304" pitchFamily="18" charset="0"/>
              </a:rPr>
              <a:t>, J. (Eds.). FEC. (2022, Oct.). </a:t>
            </a:r>
            <a:r>
              <a:rPr lang="en-US" sz="2000" i="1" dirty="0">
                <a:solidFill>
                  <a:srgbClr val="000000"/>
                </a:solidFill>
                <a:effectLst/>
                <a:latin typeface="Times New Roman" panose="02020603050405020304" pitchFamily="18" charset="0"/>
                <a:cs typeface="Times New Roman" panose="02020603050405020304" pitchFamily="18" charset="0"/>
              </a:rPr>
              <a:t>Federal elections 2020</a:t>
            </a:r>
            <a:r>
              <a:rPr lang="en-US" sz="2000" dirty="0">
                <a:solidFill>
                  <a:srgbClr val="000000"/>
                </a:solidFill>
                <a:effectLst/>
                <a:latin typeface="Times New Roman" panose="02020603050405020304" pitchFamily="18" charset="0"/>
                <a:cs typeface="Times New Roman" panose="02020603050405020304" pitchFamily="18" charset="0"/>
              </a:rPr>
              <a:t>. [2020 Presidential Election Results]. FEC.gov. </a:t>
            </a:r>
            <a:r>
              <a:rPr lang="en-US" sz="2000" u="sng" dirty="0">
                <a:solidFill>
                  <a:srgbClr val="0000FF"/>
                </a:solidFill>
                <a:effectLst/>
                <a:latin typeface="Times New Roman" panose="02020603050405020304" pitchFamily="18" charset="0"/>
                <a:cs typeface="Times New Roman" panose="02020603050405020304" pitchFamily="18" charset="0"/>
              </a:rPr>
              <a:t>https://www.fec.gov/introduction-campaign-finance/election-results-and-voting-information/federal-elections-2020/</a:t>
            </a:r>
            <a:r>
              <a:rPr lang="en-US" sz="2000" dirty="0">
                <a:solidFill>
                  <a:srgbClr val="000000"/>
                </a:solidFill>
                <a:effectLst/>
                <a:latin typeface="Times New Roman" panose="02020603050405020304" pitchFamily="18" charset="0"/>
                <a:cs typeface="Times New Roman" panose="02020603050405020304" pitchFamily="18" charset="0"/>
              </a:rPr>
              <a:t> </a:t>
            </a:r>
            <a:endParaRPr lang="en-US" sz="2000" dirty="0">
              <a:effectLst/>
              <a:latin typeface="Times New Roman" panose="02020603050405020304" pitchFamily="18" charset="0"/>
              <a:cs typeface="Times New Roman" panose="02020603050405020304" pitchFamily="18" charset="0"/>
            </a:endParaRPr>
          </a:p>
          <a:p>
            <a:pPr>
              <a:buNone/>
            </a:pPr>
            <a:endParaRPr lang="en-US" sz="2000" dirty="0">
              <a:solidFill>
                <a:srgbClr val="666666"/>
              </a:solidFill>
              <a:effectLst/>
              <a:latin typeface="Times New Roman" panose="02020603050405020304" pitchFamily="18" charset="0"/>
              <a:cs typeface="Times New Roman" panose="02020603050405020304" pitchFamily="18" charset="0"/>
            </a:endParaRPr>
          </a:p>
          <a:p>
            <a:pPr>
              <a:buNone/>
            </a:pPr>
            <a:r>
              <a:rPr lang="en-US" sz="2000" dirty="0">
                <a:solidFill>
                  <a:srgbClr val="000000"/>
                </a:solidFill>
                <a:effectLst/>
                <a:latin typeface="Times New Roman" panose="02020603050405020304" pitchFamily="18" charset="0"/>
                <a:cs typeface="Times New Roman" panose="02020603050405020304" pitchFamily="18" charset="0"/>
              </a:rPr>
              <a:t> US Census Bureau. (2024, June 7). </a:t>
            </a:r>
            <a:r>
              <a:rPr lang="en-US" sz="2000" i="1" dirty="0">
                <a:solidFill>
                  <a:srgbClr val="000000"/>
                </a:solidFill>
                <a:effectLst/>
                <a:latin typeface="Times New Roman" panose="02020603050405020304" pitchFamily="18" charset="0"/>
                <a:cs typeface="Times New Roman" panose="02020603050405020304" pitchFamily="18" charset="0"/>
              </a:rPr>
              <a:t>2020 census Apportionment Results</a:t>
            </a:r>
            <a:r>
              <a:rPr lang="en-US" sz="2000" dirty="0">
                <a:solidFill>
                  <a:srgbClr val="000000"/>
                </a:solidFill>
                <a:effectLst/>
                <a:latin typeface="Times New Roman" panose="02020603050405020304" pitchFamily="18" charset="0"/>
                <a:cs typeface="Times New Roman" panose="02020603050405020304" pitchFamily="18" charset="0"/>
              </a:rPr>
              <a:t>. Census.gov. </a:t>
            </a:r>
            <a:r>
              <a:rPr lang="en-US" sz="2000" u="sng" dirty="0">
                <a:solidFill>
                  <a:srgbClr val="0000FF"/>
                </a:solidFill>
                <a:effectLst/>
                <a:latin typeface="Times New Roman" panose="02020603050405020304" pitchFamily="18" charset="0"/>
                <a:cs typeface="Times New Roman" panose="02020603050405020304" pitchFamily="18" charset="0"/>
              </a:rPr>
              <a:t>https://www.census.gov/data/tables/2020/dec/2020-apportionment-data.html</a:t>
            </a:r>
            <a:r>
              <a:rPr lang="en-US" sz="2000" dirty="0">
                <a:solidFill>
                  <a:srgbClr val="000000"/>
                </a:solidFill>
                <a:effectLst/>
                <a:latin typeface="Times New Roman" panose="02020603050405020304" pitchFamily="18" charset="0"/>
                <a:cs typeface="Times New Roman" panose="02020603050405020304" pitchFamily="18" charset="0"/>
              </a:rPr>
              <a:t> </a:t>
            </a:r>
            <a:br>
              <a:rPr lang="en-US" sz="2000" dirty="0">
                <a:solidFill>
                  <a:srgbClr val="666666"/>
                </a:solidFill>
                <a:effectLst/>
                <a:latin typeface="Times New Roman" panose="02020603050405020304" pitchFamily="18" charset="0"/>
                <a:cs typeface="Times New Roman" panose="02020603050405020304" pitchFamily="18" charset="0"/>
              </a:rPr>
            </a:br>
            <a:endParaRPr lang="en-US" sz="2000" dirty="0">
              <a:solidFill>
                <a:srgbClr val="666666"/>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324711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CCCCFF"/>
        </a:solidFill>
        <a:effectLst/>
      </p:bgPr>
    </p:bg>
    <p:spTree>
      <p:nvGrpSpPr>
        <p:cNvPr id="1" name="">
          <a:extLst>
            <a:ext uri="{FF2B5EF4-FFF2-40B4-BE49-F238E27FC236}">
              <a16:creationId xmlns:a16="http://schemas.microsoft.com/office/drawing/2014/main" id="{A0E94C4F-5B2C-786F-DA82-4300B4C177E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891B887-A40C-5587-9A71-2716A4241621}"/>
              </a:ext>
            </a:extLst>
          </p:cNvPr>
          <p:cNvSpPr txBox="1"/>
          <p:nvPr/>
        </p:nvSpPr>
        <p:spPr>
          <a:xfrm>
            <a:off x="320278" y="190203"/>
            <a:ext cx="11551444" cy="6186309"/>
          </a:xfrm>
          <a:prstGeom prst="rect">
            <a:avLst/>
          </a:prstGeom>
          <a:noFill/>
        </p:spPr>
        <p:txBody>
          <a:bodyPr wrap="square">
            <a:spAutoFit/>
          </a:bodyPr>
          <a:lstStyle/>
          <a:p>
            <a:pPr algn="ctr">
              <a:buNone/>
            </a:pPr>
            <a:r>
              <a:rPr lang="en-US" sz="3600" b="1" u="sng" dirty="0">
                <a:solidFill>
                  <a:srgbClr val="000000"/>
                </a:solidFill>
                <a:effectLst/>
                <a:latin typeface="Times New Roman" panose="02020603050405020304" pitchFamily="18" charset="0"/>
                <a:cs typeface="Times New Roman" panose="02020603050405020304" pitchFamily="18" charset="0"/>
              </a:rPr>
              <a:t>Other References</a:t>
            </a:r>
            <a:endParaRPr lang="en-US" sz="3600" dirty="0">
              <a:effectLst/>
              <a:latin typeface="Times New Roman" panose="02020603050405020304" pitchFamily="18" charset="0"/>
              <a:cs typeface="Times New Roman" panose="02020603050405020304" pitchFamily="18" charset="0"/>
            </a:endParaRPr>
          </a:p>
          <a:p>
            <a:pPr algn="ctr">
              <a:buNone/>
            </a:pPr>
            <a:endParaRPr lang="en-US" sz="2000" dirty="0">
              <a:solidFill>
                <a:srgbClr val="666666"/>
              </a:solidFill>
              <a:latin typeface="Times New Roman" panose="02020603050405020304" pitchFamily="18" charset="0"/>
              <a:cs typeface="Times New Roman" panose="02020603050405020304" pitchFamily="18" charset="0"/>
            </a:endParaRPr>
          </a:p>
          <a:p>
            <a:pPr algn="ctr">
              <a:buNone/>
            </a:pPr>
            <a:endParaRPr lang="en-US" sz="2000" dirty="0">
              <a:solidFill>
                <a:srgbClr val="666666"/>
              </a:solidFill>
              <a:effectLst/>
              <a:latin typeface="Times New Roman" panose="02020603050405020304" pitchFamily="18" charset="0"/>
              <a:cs typeface="Times New Roman" panose="02020603050405020304" pitchFamily="18" charset="0"/>
            </a:endParaRPr>
          </a:p>
          <a:p>
            <a:pPr>
              <a:buNone/>
            </a:pPr>
            <a:r>
              <a:rPr lang="en-US" sz="2000" dirty="0">
                <a:solidFill>
                  <a:srgbClr val="000000"/>
                </a:solidFill>
                <a:effectLst/>
                <a:latin typeface="Times New Roman" panose="02020603050405020304" pitchFamily="18" charset="0"/>
                <a:cs typeface="Times New Roman" panose="02020603050405020304" pitchFamily="18" charset="0"/>
              </a:rPr>
              <a:t>Electoral Ventures LLC. (2025). </a:t>
            </a:r>
            <a:r>
              <a:rPr lang="en-US" sz="2000" i="1" dirty="0">
                <a:solidFill>
                  <a:srgbClr val="000000"/>
                </a:solidFill>
                <a:effectLst/>
                <a:latin typeface="Times New Roman" panose="02020603050405020304" pitchFamily="18" charset="0"/>
                <a:cs typeface="Times New Roman" panose="02020603050405020304" pitchFamily="18" charset="0"/>
              </a:rPr>
              <a:t>Split electoral votes in Maine and Nebraska - 270towin</a:t>
            </a:r>
            <a:r>
              <a:rPr lang="en-US" sz="2000" dirty="0">
                <a:solidFill>
                  <a:srgbClr val="000000"/>
                </a:solidFill>
                <a:effectLst/>
                <a:latin typeface="Times New Roman" panose="02020603050405020304" pitchFamily="18" charset="0"/>
                <a:cs typeface="Times New Roman" panose="02020603050405020304" pitchFamily="18" charset="0"/>
              </a:rPr>
              <a:t>. 270toWin.com. </a:t>
            </a:r>
            <a:r>
              <a:rPr lang="en-US" sz="2000" u="sng" dirty="0">
                <a:solidFill>
                  <a:srgbClr val="0000FF"/>
                </a:solidFill>
                <a:effectLst/>
                <a:latin typeface="Times New Roman" panose="02020603050405020304" pitchFamily="18" charset="0"/>
                <a:cs typeface="Times New Roman" panose="02020603050405020304" pitchFamily="18" charset="0"/>
              </a:rPr>
              <a:t>https://www.270towin.com/content/split-electoral-votes-maine-and-nebraska/</a:t>
            </a:r>
            <a:r>
              <a:rPr lang="en-US" sz="2000" dirty="0">
                <a:solidFill>
                  <a:srgbClr val="000000"/>
                </a:solidFill>
                <a:effectLst/>
                <a:latin typeface="Times New Roman" panose="02020603050405020304" pitchFamily="18" charset="0"/>
                <a:cs typeface="Times New Roman" panose="02020603050405020304" pitchFamily="18" charset="0"/>
              </a:rPr>
              <a:t> </a:t>
            </a:r>
            <a:endParaRPr lang="en-US" sz="2000" dirty="0">
              <a:effectLst/>
              <a:latin typeface="Times New Roman" panose="02020603050405020304" pitchFamily="18" charset="0"/>
              <a:cs typeface="Times New Roman" panose="02020603050405020304" pitchFamily="18" charset="0"/>
            </a:endParaRPr>
          </a:p>
          <a:p>
            <a:pPr>
              <a:buNone/>
            </a:pPr>
            <a:endParaRPr lang="en-US" sz="2000" dirty="0">
              <a:solidFill>
                <a:srgbClr val="666666"/>
              </a:solidFill>
              <a:effectLst/>
              <a:latin typeface="Times New Roman" panose="02020603050405020304" pitchFamily="18" charset="0"/>
              <a:cs typeface="Times New Roman" panose="02020603050405020304" pitchFamily="18" charset="0"/>
            </a:endParaRPr>
          </a:p>
          <a:p>
            <a:pPr>
              <a:buNone/>
            </a:pPr>
            <a:endParaRPr lang="en-US" sz="2000" dirty="0">
              <a:solidFill>
                <a:srgbClr val="666666"/>
              </a:solidFill>
              <a:effectLst/>
              <a:latin typeface="Times New Roman" panose="02020603050405020304" pitchFamily="18" charset="0"/>
              <a:cs typeface="Times New Roman" panose="02020603050405020304" pitchFamily="18" charset="0"/>
            </a:endParaRPr>
          </a:p>
          <a:p>
            <a:pPr>
              <a:buNone/>
            </a:pPr>
            <a:r>
              <a:rPr lang="en-US" sz="2000" dirty="0">
                <a:solidFill>
                  <a:srgbClr val="000000"/>
                </a:solidFill>
                <a:effectLst/>
                <a:latin typeface="Times New Roman" panose="02020603050405020304" pitchFamily="18" charset="0"/>
                <a:cs typeface="Times New Roman" panose="02020603050405020304" pitchFamily="18" charset="0"/>
              </a:rPr>
              <a:t>National Archives and Records Administration. (2025, April 14). </a:t>
            </a:r>
            <a:r>
              <a:rPr lang="en-US" sz="2000" i="1" dirty="0">
                <a:solidFill>
                  <a:srgbClr val="000000"/>
                </a:solidFill>
                <a:effectLst/>
                <a:latin typeface="Times New Roman" panose="02020603050405020304" pitchFamily="18" charset="0"/>
                <a:cs typeface="Times New Roman" panose="02020603050405020304" pitchFamily="18" charset="0"/>
              </a:rPr>
              <a:t>The Constitution: Amendments 11-27</a:t>
            </a:r>
            <a:r>
              <a:rPr lang="en-US" sz="2000" dirty="0">
                <a:solidFill>
                  <a:srgbClr val="000000"/>
                </a:solidFill>
                <a:effectLst/>
                <a:latin typeface="Times New Roman" panose="02020603050405020304" pitchFamily="18" charset="0"/>
                <a:cs typeface="Times New Roman" panose="02020603050405020304" pitchFamily="18" charset="0"/>
              </a:rPr>
              <a:t>. National Archives and Records Administration. </a:t>
            </a:r>
            <a:r>
              <a:rPr lang="en-US" sz="2000" u="sng" dirty="0">
                <a:solidFill>
                  <a:srgbClr val="0000FF"/>
                </a:solidFill>
                <a:effectLst/>
                <a:latin typeface="Times New Roman" panose="02020603050405020304" pitchFamily="18" charset="0"/>
                <a:cs typeface="Times New Roman" panose="02020603050405020304" pitchFamily="18" charset="0"/>
              </a:rPr>
              <a:t>https://www.archives.gov/founding-docs/amendments-11-27</a:t>
            </a:r>
            <a:r>
              <a:rPr lang="en-US" sz="2000" dirty="0">
                <a:solidFill>
                  <a:srgbClr val="000000"/>
                </a:solidFill>
                <a:effectLst/>
                <a:latin typeface="Times New Roman" panose="02020603050405020304" pitchFamily="18" charset="0"/>
                <a:cs typeface="Times New Roman" panose="02020603050405020304" pitchFamily="18" charset="0"/>
              </a:rPr>
              <a:t> </a:t>
            </a:r>
            <a:endParaRPr lang="en-US" sz="2000" dirty="0">
              <a:effectLst/>
              <a:latin typeface="Times New Roman" panose="02020603050405020304" pitchFamily="18" charset="0"/>
              <a:cs typeface="Times New Roman" panose="02020603050405020304" pitchFamily="18" charset="0"/>
            </a:endParaRPr>
          </a:p>
          <a:p>
            <a:pPr>
              <a:buNone/>
            </a:pPr>
            <a:endParaRPr lang="en-US" sz="2000" dirty="0">
              <a:solidFill>
                <a:srgbClr val="666666"/>
              </a:solidFill>
              <a:effectLst/>
              <a:latin typeface="Times New Roman" panose="02020603050405020304" pitchFamily="18" charset="0"/>
              <a:cs typeface="Times New Roman" panose="02020603050405020304" pitchFamily="18" charset="0"/>
            </a:endParaRPr>
          </a:p>
          <a:p>
            <a:pPr>
              <a:buNone/>
            </a:pPr>
            <a:endParaRPr lang="en-US" sz="2000" dirty="0">
              <a:solidFill>
                <a:srgbClr val="666666"/>
              </a:solidFill>
              <a:effectLst/>
              <a:latin typeface="Times New Roman" panose="02020603050405020304" pitchFamily="18" charset="0"/>
              <a:cs typeface="Times New Roman" panose="02020603050405020304" pitchFamily="18" charset="0"/>
            </a:endParaRPr>
          </a:p>
          <a:p>
            <a:pPr>
              <a:buNone/>
            </a:pPr>
            <a:r>
              <a:rPr lang="en-US" sz="2000" dirty="0">
                <a:solidFill>
                  <a:srgbClr val="000000"/>
                </a:solidFill>
                <a:effectLst/>
                <a:latin typeface="Times New Roman" panose="02020603050405020304" pitchFamily="18" charset="0"/>
                <a:cs typeface="Times New Roman" panose="02020603050405020304" pitchFamily="18" charset="0"/>
              </a:rPr>
              <a:t>US House of Representatives. (n.d.). </a:t>
            </a:r>
            <a:r>
              <a:rPr lang="en-US" sz="2000" i="1" dirty="0">
                <a:solidFill>
                  <a:srgbClr val="000000"/>
                </a:solidFill>
                <a:effectLst/>
                <a:latin typeface="Times New Roman" panose="02020603050405020304" pitchFamily="18" charset="0"/>
                <a:cs typeface="Times New Roman" panose="02020603050405020304" pitchFamily="18" charset="0"/>
              </a:rPr>
              <a:t>The Permanent Apportionment Act of 1929</a:t>
            </a:r>
            <a:r>
              <a:rPr lang="en-US" sz="2000" dirty="0">
                <a:solidFill>
                  <a:srgbClr val="000000"/>
                </a:solidFill>
                <a:effectLst/>
                <a:latin typeface="Times New Roman" panose="02020603050405020304" pitchFamily="18" charset="0"/>
                <a:cs typeface="Times New Roman" panose="02020603050405020304" pitchFamily="18" charset="0"/>
              </a:rPr>
              <a:t>. US House of Representatives: History, Art &amp; Archives. </a:t>
            </a:r>
            <a:r>
              <a:rPr lang="en-US" sz="2000" u="sng" dirty="0">
                <a:solidFill>
                  <a:srgbClr val="0000FF"/>
                </a:solidFill>
                <a:effectLst/>
                <a:latin typeface="Times New Roman" panose="02020603050405020304" pitchFamily="18" charset="0"/>
                <a:cs typeface="Times New Roman" panose="02020603050405020304" pitchFamily="18" charset="0"/>
              </a:rPr>
              <a:t>https://history.house.gov/Historical-Highlights/1901-1950/The-Permanent-Apportionment-Act-of-1929/</a:t>
            </a:r>
            <a:r>
              <a:rPr lang="en-US" sz="2000" dirty="0">
                <a:solidFill>
                  <a:srgbClr val="000000"/>
                </a:solidFill>
                <a:effectLst/>
                <a:latin typeface="Times New Roman" panose="02020603050405020304" pitchFamily="18" charset="0"/>
                <a:cs typeface="Times New Roman" panose="02020603050405020304" pitchFamily="18" charset="0"/>
              </a:rPr>
              <a:t> </a:t>
            </a:r>
            <a:endParaRPr lang="en-US" sz="2000" dirty="0">
              <a:effectLst/>
              <a:latin typeface="Times New Roman" panose="02020603050405020304" pitchFamily="18" charset="0"/>
              <a:cs typeface="Times New Roman" panose="02020603050405020304" pitchFamily="18" charset="0"/>
            </a:endParaRPr>
          </a:p>
          <a:p>
            <a:pPr>
              <a:buNone/>
            </a:pPr>
            <a:endParaRPr lang="en-US" sz="2000" dirty="0">
              <a:solidFill>
                <a:srgbClr val="666666"/>
              </a:solidFill>
              <a:effectLst/>
              <a:latin typeface="Times New Roman" panose="02020603050405020304" pitchFamily="18" charset="0"/>
              <a:cs typeface="Times New Roman" panose="02020603050405020304" pitchFamily="18" charset="0"/>
            </a:endParaRPr>
          </a:p>
          <a:p>
            <a:pPr>
              <a:buNone/>
            </a:pPr>
            <a:endParaRPr lang="en-US" sz="2000" dirty="0">
              <a:solidFill>
                <a:srgbClr val="666666"/>
              </a:solidFill>
              <a:effectLst/>
              <a:latin typeface="Times New Roman" panose="02020603050405020304" pitchFamily="18" charset="0"/>
              <a:cs typeface="Times New Roman" panose="02020603050405020304" pitchFamily="18" charset="0"/>
            </a:endParaRPr>
          </a:p>
          <a:p>
            <a:pPr>
              <a:buNone/>
            </a:pPr>
            <a:r>
              <a:rPr lang="en-US" sz="2000" dirty="0">
                <a:solidFill>
                  <a:srgbClr val="000000"/>
                </a:solidFill>
                <a:effectLst/>
                <a:latin typeface="Times New Roman" panose="02020603050405020304" pitchFamily="18" charset="0"/>
                <a:cs typeface="Times New Roman" panose="02020603050405020304" pitchFamily="18" charset="0"/>
              </a:rPr>
              <a:t>Wang, H. L. (2021, April 20). </a:t>
            </a:r>
            <a:r>
              <a:rPr lang="en-US" sz="2000" i="1" dirty="0">
                <a:solidFill>
                  <a:srgbClr val="000000"/>
                </a:solidFill>
                <a:effectLst/>
                <a:latin typeface="Times New Roman" panose="02020603050405020304" pitchFamily="18" charset="0"/>
                <a:cs typeface="Times New Roman" panose="02020603050405020304" pitchFamily="18" charset="0"/>
              </a:rPr>
              <a:t>Stuck at 435 representatives? why the U.S. House hasn’t grown with Census counts</a:t>
            </a:r>
            <a:r>
              <a:rPr lang="en-US" sz="2000" dirty="0">
                <a:solidFill>
                  <a:srgbClr val="000000"/>
                </a:solidFill>
                <a:effectLst/>
                <a:latin typeface="Times New Roman" panose="02020603050405020304" pitchFamily="18" charset="0"/>
                <a:cs typeface="Times New Roman" panose="02020603050405020304" pitchFamily="18" charset="0"/>
              </a:rPr>
              <a:t>. NPR. </a:t>
            </a:r>
            <a:r>
              <a:rPr lang="en-US" sz="2000" u="sng" dirty="0">
                <a:solidFill>
                  <a:srgbClr val="0000FF"/>
                </a:solidFill>
                <a:effectLst/>
                <a:latin typeface="Times New Roman" panose="02020603050405020304" pitchFamily="18" charset="0"/>
                <a:cs typeface="Times New Roman" panose="02020603050405020304" pitchFamily="18" charset="0"/>
              </a:rPr>
              <a:t>https://www.npr.org/2021/04/20/988865415/stuck-at-435-representatives-why-the-u-s-house-hasnt-grown-with-census-counts</a:t>
            </a:r>
            <a:r>
              <a:rPr lang="en-US" sz="2000" dirty="0">
                <a:solidFill>
                  <a:srgbClr val="000000"/>
                </a:solidFill>
                <a:effectLst/>
                <a:latin typeface="Times New Roman" panose="02020603050405020304" pitchFamily="18" charset="0"/>
                <a:cs typeface="Times New Roman" panose="02020603050405020304" pitchFamily="18" charset="0"/>
              </a:rPr>
              <a:t> </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278021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1282</TotalTime>
  <Words>1631</Words>
  <Application>Microsoft Office PowerPoint</Application>
  <PresentationFormat>Widescreen</PresentationFormat>
  <Paragraphs>154</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Calibri Light</vt:lpstr>
      <vt:lpstr>Tableau Book</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James M. Halaz</dc:creator>
  <cp:lastModifiedBy>James M. Halaz</cp:lastModifiedBy>
  <cp:revision>23</cp:revision>
  <dcterms:created xsi:type="dcterms:W3CDTF">2025-11-17T19:32:55Z</dcterms:created>
  <dcterms:modified xsi:type="dcterms:W3CDTF">2026-05-11T20:24:57Z</dcterms:modified>
</cp:coreProperties>
</file>