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70" r:id="rId3"/>
    <p:sldId id="278" r:id="rId4"/>
    <p:sldId id="279" r:id="rId5"/>
    <p:sldId id="280" r:id="rId6"/>
    <p:sldId id="271" r:id="rId7"/>
    <p:sldId id="281" r:id="rId8"/>
    <p:sldId id="282" r:id="rId9"/>
    <p:sldId id="283" r:id="rId10"/>
    <p:sldId id="284" r:id="rId11"/>
    <p:sldId id="272" r:id="rId12"/>
    <p:sldId id="285" r:id="rId13"/>
    <p:sldId id="273" r:id="rId14"/>
    <p:sldId id="27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CCFF"/>
    <a:srgbClr val="7C5AE8"/>
    <a:srgbClr val="99CCFF"/>
    <a:srgbClr val="B929DB"/>
    <a:srgbClr val="88D5F8"/>
    <a:srgbClr val="48EAF6"/>
    <a:srgbClr val="AFF6FB"/>
    <a:srgbClr val="E898B6"/>
    <a:srgbClr val="EFB7CC"/>
    <a:srgbClr val="8DE5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4" d="100"/>
          <a:sy n="104" d="100"/>
        </p:scale>
        <p:origin x="216"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FD92A-431B-781B-10AE-30934DCBFD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503B6DB-53B5-1D2B-5709-D5AEAC8329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9DC8A8D-6B56-883F-AB2C-5D5C703188B0}"/>
              </a:ext>
            </a:extLst>
          </p:cNvPr>
          <p:cNvSpPr>
            <a:spLocks noGrp="1"/>
          </p:cNvSpPr>
          <p:nvPr>
            <p:ph type="dt" sz="half" idx="10"/>
          </p:nvPr>
        </p:nvSpPr>
        <p:spPr/>
        <p:txBody>
          <a:bodyPr/>
          <a:lstStyle/>
          <a:p>
            <a:fld id="{71B6352D-72B3-466B-A027-C9C12242323D}" type="datetimeFigureOut">
              <a:rPr lang="en-US" smtClean="0"/>
              <a:t>5/15/2026</a:t>
            </a:fld>
            <a:endParaRPr lang="en-US"/>
          </a:p>
        </p:txBody>
      </p:sp>
      <p:sp>
        <p:nvSpPr>
          <p:cNvPr id="5" name="Footer Placeholder 4">
            <a:extLst>
              <a:ext uri="{FF2B5EF4-FFF2-40B4-BE49-F238E27FC236}">
                <a16:creationId xmlns:a16="http://schemas.microsoft.com/office/drawing/2014/main" id="{9BA94572-D6A4-6F8C-3F04-D1C7FAE68D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4D1236-EC4B-311A-D6F4-61B56795C97A}"/>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1251368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759D7-C19B-0212-7292-B63588A250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1AAFFC-5697-C82C-0144-E220F8126F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87FF40-72CB-8C16-E9A4-79045E84B169}"/>
              </a:ext>
            </a:extLst>
          </p:cNvPr>
          <p:cNvSpPr>
            <a:spLocks noGrp="1"/>
          </p:cNvSpPr>
          <p:nvPr>
            <p:ph type="dt" sz="half" idx="10"/>
          </p:nvPr>
        </p:nvSpPr>
        <p:spPr/>
        <p:txBody>
          <a:bodyPr/>
          <a:lstStyle/>
          <a:p>
            <a:fld id="{71B6352D-72B3-466B-A027-C9C12242323D}" type="datetimeFigureOut">
              <a:rPr lang="en-US" smtClean="0"/>
              <a:t>5/15/2026</a:t>
            </a:fld>
            <a:endParaRPr lang="en-US"/>
          </a:p>
        </p:txBody>
      </p:sp>
      <p:sp>
        <p:nvSpPr>
          <p:cNvPr id="5" name="Footer Placeholder 4">
            <a:extLst>
              <a:ext uri="{FF2B5EF4-FFF2-40B4-BE49-F238E27FC236}">
                <a16:creationId xmlns:a16="http://schemas.microsoft.com/office/drawing/2014/main" id="{6581A3E7-58C2-AC62-8D60-5EA2ABAB59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28DB7A-F1EF-8310-49D1-C3E53378CEC8}"/>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165613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613F9-A5ED-2C79-A8C7-296649B92E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0BC4409-9905-6314-4FF8-0529C61D44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65E393-CCEB-0E76-10DA-0679D941A284}"/>
              </a:ext>
            </a:extLst>
          </p:cNvPr>
          <p:cNvSpPr>
            <a:spLocks noGrp="1"/>
          </p:cNvSpPr>
          <p:nvPr>
            <p:ph type="dt" sz="half" idx="10"/>
          </p:nvPr>
        </p:nvSpPr>
        <p:spPr/>
        <p:txBody>
          <a:bodyPr/>
          <a:lstStyle/>
          <a:p>
            <a:fld id="{71B6352D-72B3-466B-A027-C9C12242323D}" type="datetimeFigureOut">
              <a:rPr lang="en-US" smtClean="0"/>
              <a:t>5/15/2026</a:t>
            </a:fld>
            <a:endParaRPr lang="en-US"/>
          </a:p>
        </p:txBody>
      </p:sp>
      <p:sp>
        <p:nvSpPr>
          <p:cNvPr id="5" name="Footer Placeholder 4">
            <a:extLst>
              <a:ext uri="{FF2B5EF4-FFF2-40B4-BE49-F238E27FC236}">
                <a16:creationId xmlns:a16="http://schemas.microsoft.com/office/drawing/2014/main" id="{4FDEAFC1-0A16-9D6C-474A-97B77CEE4B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543145-20B5-2A33-3B75-BFBD400D437B}"/>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2402185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E633C-DA93-4933-917C-3870E9E601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05D5FE-D729-88FB-9712-2E5AFF9809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5A259A-8934-7AF4-1574-FA43DC5C9D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682F81E-D59D-E136-A87F-35B1BFDC151B}"/>
              </a:ext>
            </a:extLst>
          </p:cNvPr>
          <p:cNvSpPr>
            <a:spLocks noGrp="1"/>
          </p:cNvSpPr>
          <p:nvPr>
            <p:ph type="dt" sz="half" idx="10"/>
          </p:nvPr>
        </p:nvSpPr>
        <p:spPr/>
        <p:txBody>
          <a:bodyPr/>
          <a:lstStyle/>
          <a:p>
            <a:fld id="{71B6352D-72B3-466B-A027-C9C12242323D}" type="datetimeFigureOut">
              <a:rPr lang="en-US" smtClean="0"/>
              <a:t>5/15/2026</a:t>
            </a:fld>
            <a:endParaRPr lang="en-US"/>
          </a:p>
        </p:txBody>
      </p:sp>
      <p:sp>
        <p:nvSpPr>
          <p:cNvPr id="6" name="Footer Placeholder 5">
            <a:extLst>
              <a:ext uri="{FF2B5EF4-FFF2-40B4-BE49-F238E27FC236}">
                <a16:creationId xmlns:a16="http://schemas.microsoft.com/office/drawing/2014/main" id="{FD919E21-ABEE-DD4C-06DC-7C66A219B8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002CBE-584C-96B8-57FD-83B00890DCDB}"/>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4289323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D7E90-8C92-D70D-696C-304442078C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41ABDD-FB7B-2EAB-78FD-9A32C36AD8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5C0FDC-780D-2636-8944-0B89733488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9B9D7F-A7CA-DEC7-A98F-FA71AD67C0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3201E6-4EE9-F084-5B77-A8E0B8082B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3F98AE-23F6-9B3F-ECEE-BE862C439DA3}"/>
              </a:ext>
            </a:extLst>
          </p:cNvPr>
          <p:cNvSpPr>
            <a:spLocks noGrp="1"/>
          </p:cNvSpPr>
          <p:nvPr>
            <p:ph type="dt" sz="half" idx="10"/>
          </p:nvPr>
        </p:nvSpPr>
        <p:spPr/>
        <p:txBody>
          <a:bodyPr/>
          <a:lstStyle/>
          <a:p>
            <a:fld id="{71B6352D-72B3-466B-A027-C9C12242323D}" type="datetimeFigureOut">
              <a:rPr lang="en-US" smtClean="0"/>
              <a:t>5/15/2026</a:t>
            </a:fld>
            <a:endParaRPr lang="en-US"/>
          </a:p>
        </p:txBody>
      </p:sp>
      <p:sp>
        <p:nvSpPr>
          <p:cNvPr id="8" name="Footer Placeholder 7">
            <a:extLst>
              <a:ext uri="{FF2B5EF4-FFF2-40B4-BE49-F238E27FC236}">
                <a16:creationId xmlns:a16="http://schemas.microsoft.com/office/drawing/2014/main" id="{8707978B-D6BA-6F4B-5D66-D33CD35003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B851F7-866A-5A59-C033-6F1A1094E9B1}"/>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906604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F6CC1-C36A-6263-9445-DCE9130CC9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6DF62D-5028-B8CD-EAD8-A6C2B4233228}"/>
              </a:ext>
            </a:extLst>
          </p:cNvPr>
          <p:cNvSpPr>
            <a:spLocks noGrp="1"/>
          </p:cNvSpPr>
          <p:nvPr>
            <p:ph type="dt" sz="half" idx="10"/>
          </p:nvPr>
        </p:nvSpPr>
        <p:spPr/>
        <p:txBody>
          <a:bodyPr/>
          <a:lstStyle/>
          <a:p>
            <a:fld id="{71B6352D-72B3-466B-A027-C9C12242323D}" type="datetimeFigureOut">
              <a:rPr lang="en-US" smtClean="0"/>
              <a:t>5/15/2026</a:t>
            </a:fld>
            <a:endParaRPr lang="en-US"/>
          </a:p>
        </p:txBody>
      </p:sp>
      <p:sp>
        <p:nvSpPr>
          <p:cNvPr id="4" name="Footer Placeholder 3">
            <a:extLst>
              <a:ext uri="{FF2B5EF4-FFF2-40B4-BE49-F238E27FC236}">
                <a16:creationId xmlns:a16="http://schemas.microsoft.com/office/drawing/2014/main" id="{BFB8BABA-54B7-E334-A3E5-9698E00527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0269CE-D8D8-B9C5-8E16-74D099F6CE57}"/>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178598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B63AF3-C970-4BB3-9C53-C8FBAFFBF4CE}"/>
              </a:ext>
            </a:extLst>
          </p:cNvPr>
          <p:cNvSpPr>
            <a:spLocks noGrp="1"/>
          </p:cNvSpPr>
          <p:nvPr>
            <p:ph type="dt" sz="half" idx="10"/>
          </p:nvPr>
        </p:nvSpPr>
        <p:spPr/>
        <p:txBody>
          <a:bodyPr/>
          <a:lstStyle/>
          <a:p>
            <a:fld id="{71B6352D-72B3-466B-A027-C9C12242323D}" type="datetimeFigureOut">
              <a:rPr lang="en-US" smtClean="0"/>
              <a:t>5/15/2026</a:t>
            </a:fld>
            <a:endParaRPr lang="en-US"/>
          </a:p>
        </p:txBody>
      </p:sp>
      <p:sp>
        <p:nvSpPr>
          <p:cNvPr id="3" name="Footer Placeholder 2">
            <a:extLst>
              <a:ext uri="{FF2B5EF4-FFF2-40B4-BE49-F238E27FC236}">
                <a16:creationId xmlns:a16="http://schemas.microsoft.com/office/drawing/2014/main" id="{C6806BED-2137-B696-4360-405C01CE2F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C5A189-004B-CC04-6B2C-EF676D54C3C4}"/>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3790488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713ED-9F7D-D137-0624-614852CF39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175FEF-6529-5AF1-006A-2D619163D3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FCFA33-7413-4C5A-0349-6D29F70E6D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96B7C1-4E3A-9EC6-53EA-EEBA825D3D7F}"/>
              </a:ext>
            </a:extLst>
          </p:cNvPr>
          <p:cNvSpPr>
            <a:spLocks noGrp="1"/>
          </p:cNvSpPr>
          <p:nvPr>
            <p:ph type="dt" sz="half" idx="10"/>
          </p:nvPr>
        </p:nvSpPr>
        <p:spPr/>
        <p:txBody>
          <a:bodyPr/>
          <a:lstStyle/>
          <a:p>
            <a:fld id="{71B6352D-72B3-466B-A027-C9C12242323D}" type="datetimeFigureOut">
              <a:rPr lang="en-US" smtClean="0"/>
              <a:t>5/15/2026</a:t>
            </a:fld>
            <a:endParaRPr lang="en-US"/>
          </a:p>
        </p:txBody>
      </p:sp>
      <p:sp>
        <p:nvSpPr>
          <p:cNvPr id="6" name="Footer Placeholder 5">
            <a:extLst>
              <a:ext uri="{FF2B5EF4-FFF2-40B4-BE49-F238E27FC236}">
                <a16:creationId xmlns:a16="http://schemas.microsoft.com/office/drawing/2014/main" id="{491CD9AE-B8C3-7288-AB2D-EA192921E8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DFA9A8-14C1-D324-0BF0-FA99600119E7}"/>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1028506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F3193-6ED5-B1CB-8CC6-321B2980B7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081100-7C2A-AD77-506C-27A579DF1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8426BF-41ED-816F-7C0E-8A8C5F32FC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C05307-36E9-AEB6-E59B-CB98D731BF95}"/>
              </a:ext>
            </a:extLst>
          </p:cNvPr>
          <p:cNvSpPr>
            <a:spLocks noGrp="1"/>
          </p:cNvSpPr>
          <p:nvPr>
            <p:ph type="dt" sz="half" idx="10"/>
          </p:nvPr>
        </p:nvSpPr>
        <p:spPr/>
        <p:txBody>
          <a:bodyPr/>
          <a:lstStyle/>
          <a:p>
            <a:fld id="{71B6352D-72B3-466B-A027-C9C12242323D}" type="datetimeFigureOut">
              <a:rPr lang="en-US" smtClean="0"/>
              <a:t>5/15/2026</a:t>
            </a:fld>
            <a:endParaRPr lang="en-US"/>
          </a:p>
        </p:txBody>
      </p:sp>
      <p:sp>
        <p:nvSpPr>
          <p:cNvPr id="6" name="Footer Placeholder 5">
            <a:extLst>
              <a:ext uri="{FF2B5EF4-FFF2-40B4-BE49-F238E27FC236}">
                <a16:creationId xmlns:a16="http://schemas.microsoft.com/office/drawing/2014/main" id="{D4D2711B-7B75-AB81-F133-446452D159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F518E9-3C24-4DBF-952F-36E4343F54B2}"/>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48282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9CF5F-4C9C-4435-1528-D93FF92536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5707B94-9353-31C7-8317-B83A05D90D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82AC50-75E1-FEE7-D61A-11AEA8B7802F}"/>
              </a:ext>
            </a:extLst>
          </p:cNvPr>
          <p:cNvSpPr>
            <a:spLocks noGrp="1"/>
          </p:cNvSpPr>
          <p:nvPr>
            <p:ph type="dt" sz="half" idx="10"/>
          </p:nvPr>
        </p:nvSpPr>
        <p:spPr/>
        <p:txBody>
          <a:bodyPr/>
          <a:lstStyle/>
          <a:p>
            <a:fld id="{71B6352D-72B3-466B-A027-C9C12242323D}" type="datetimeFigureOut">
              <a:rPr lang="en-US" smtClean="0"/>
              <a:t>5/15/2026</a:t>
            </a:fld>
            <a:endParaRPr lang="en-US"/>
          </a:p>
        </p:txBody>
      </p:sp>
      <p:sp>
        <p:nvSpPr>
          <p:cNvPr id="5" name="Footer Placeholder 4">
            <a:extLst>
              <a:ext uri="{FF2B5EF4-FFF2-40B4-BE49-F238E27FC236}">
                <a16:creationId xmlns:a16="http://schemas.microsoft.com/office/drawing/2014/main" id="{5442D828-09C4-EE3E-8A9A-E488DC4E00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C1E271-0933-2EF1-AAC0-49A9730E215A}"/>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1043870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43CABF-3AF4-38BC-CF84-4153E418A28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DA83211-07BD-2617-81B0-40CC681A52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0DA154-D860-E721-B9CB-3B7D354988DB}"/>
              </a:ext>
            </a:extLst>
          </p:cNvPr>
          <p:cNvSpPr>
            <a:spLocks noGrp="1"/>
          </p:cNvSpPr>
          <p:nvPr>
            <p:ph type="dt" sz="half" idx="10"/>
          </p:nvPr>
        </p:nvSpPr>
        <p:spPr/>
        <p:txBody>
          <a:bodyPr/>
          <a:lstStyle/>
          <a:p>
            <a:fld id="{71B6352D-72B3-466B-A027-C9C12242323D}" type="datetimeFigureOut">
              <a:rPr lang="en-US" smtClean="0"/>
              <a:t>5/15/2026</a:t>
            </a:fld>
            <a:endParaRPr lang="en-US"/>
          </a:p>
        </p:txBody>
      </p:sp>
      <p:sp>
        <p:nvSpPr>
          <p:cNvPr id="5" name="Footer Placeholder 4">
            <a:extLst>
              <a:ext uri="{FF2B5EF4-FFF2-40B4-BE49-F238E27FC236}">
                <a16:creationId xmlns:a16="http://schemas.microsoft.com/office/drawing/2014/main" id="{8A1359D3-1ED1-FD41-D16E-CD3975D8DD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1E7935-1840-838E-20B5-A23F384DD6DC}"/>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1140679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7E1D6E-37E1-E33A-7E8A-11D8475A39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1D5862-D05B-FBEB-D554-7BB2A80184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4111F0-9D57-BF13-7597-1B1922FB47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B6352D-72B3-466B-A027-C9C12242323D}" type="datetimeFigureOut">
              <a:rPr lang="en-US" smtClean="0"/>
              <a:t>5/15/2026</a:t>
            </a:fld>
            <a:endParaRPr lang="en-US"/>
          </a:p>
        </p:txBody>
      </p:sp>
      <p:sp>
        <p:nvSpPr>
          <p:cNvPr id="5" name="Footer Placeholder 4">
            <a:extLst>
              <a:ext uri="{FF2B5EF4-FFF2-40B4-BE49-F238E27FC236}">
                <a16:creationId xmlns:a16="http://schemas.microsoft.com/office/drawing/2014/main" id="{A4C95BB5-4BAB-C601-3051-6383591149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74F6F80-1CBC-B203-2C8C-13DF1FE406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A5375C-59F9-4923-B75D-1A3C4E4E5C53}" type="slidenum">
              <a:rPr lang="en-US" smtClean="0"/>
              <a:t>‹#›</a:t>
            </a:fld>
            <a:endParaRPr lang="en-US"/>
          </a:p>
        </p:txBody>
      </p:sp>
    </p:spTree>
    <p:extLst>
      <p:ext uri="{BB962C8B-B14F-4D97-AF65-F5344CB8AC3E}">
        <p14:creationId xmlns:p14="http://schemas.microsoft.com/office/powerpoint/2010/main" val="2571134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1FEC0DB-ACB8-0030-F35A-2901FA74931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07EE786-723F-399F-8620-62D04A91F9A6}"/>
              </a:ext>
            </a:extLst>
          </p:cNvPr>
          <p:cNvSpPr txBox="1"/>
          <p:nvPr/>
        </p:nvSpPr>
        <p:spPr>
          <a:xfrm>
            <a:off x="121444" y="223599"/>
            <a:ext cx="11930062" cy="6186309"/>
          </a:xfrm>
          <a:prstGeom prst="rect">
            <a:avLst/>
          </a:prstGeom>
          <a:noFill/>
        </p:spPr>
        <p:txBody>
          <a:bodyPr wrap="square">
            <a:spAutoFit/>
          </a:bodyPr>
          <a:lstStyle/>
          <a:p>
            <a:pPr algn="ctr">
              <a:buNone/>
            </a:pPr>
            <a:r>
              <a:rPr lang="en-US" sz="3600" dirty="0">
                <a:solidFill>
                  <a:srgbClr val="FFFFFF"/>
                </a:solidFill>
                <a:effectLst/>
                <a:latin typeface="Times New Roman" panose="02020603050405020304" pitchFamily="18" charset="0"/>
              </a:rPr>
              <a:t>Interpreting The Results</a:t>
            </a:r>
            <a:endParaRPr lang="en-US" sz="3600" dirty="0">
              <a:effectLst/>
            </a:endParaRPr>
          </a:p>
          <a:p>
            <a:pPr algn="ctr">
              <a:buNone/>
            </a:pPr>
            <a:endParaRPr lang="en-US" sz="1000" dirty="0">
              <a:solidFill>
                <a:srgbClr val="666666"/>
              </a:solidFill>
              <a:latin typeface="Times New Roman" panose="02020603050405020304" pitchFamily="18" charset="0"/>
              <a:cs typeface="Times New Roman" panose="02020603050405020304" pitchFamily="18" charset="0"/>
            </a:endParaRPr>
          </a:p>
          <a:p>
            <a:pPr algn="ctr">
              <a:buNone/>
            </a:pPr>
            <a:endParaRPr lang="en-US" sz="1000" dirty="0">
              <a:solidFill>
                <a:srgbClr val="666666"/>
              </a:solidFill>
              <a:effectLst/>
              <a:latin typeface="Times New Roman" panose="02020603050405020304" pitchFamily="18" charset="0"/>
              <a:cs typeface="Times New Roman" panose="02020603050405020304" pitchFamily="18" charset="0"/>
            </a:endParaRPr>
          </a:p>
          <a:p>
            <a:pPr algn="ctr">
              <a:buNone/>
            </a:pPr>
            <a:endParaRPr lang="en-US" sz="1000" dirty="0">
              <a:solidFill>
                <a:srgbClr val="666666"/>
              </a:solidFill>
              <a:latin typeface="Times New Roman" panose="02020603050405020304" pitchFamily="18" charset="0"/>
              <a:cs typeface="Times New Roman" panose="02020603050405020304" pitchFamily="18" charset="0"/>
            </a:endParaRPr>
          </a:p>
          <a:p>
            <a:pPr algn="ctr">
              <a:buNone/>
            </a:pPr>
            <a:endParaRPr lang="en-US" sz="1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FFFFFF"/>
                </a:solidFill>
                <a:effectLst/>
                <a:latin typeface="Times New Roman" panose="02020603050405020304" pitchFamily="18" charset="0"/>
                <a:cs typeface="Times New Roman" panose="02020603050405020304" pitchFamily="18" charset="0"/>
              </a:rPr>
              <a:t>The following four graphs use all three methods, with both capped and uncapped Electoral College totals, to determine Electoral College percentages for each candidate. For the U.S. Presidential Elections of 2008, 2012, 2016, and 2020, the Electoral College percentages of the top eight candidates are shown in comparison to the candidate's popular vote percentage. Some interesting aspects to take note of in the following graphs are:</a:t>
            </a:r>
            <a:br>
              <a:rPr lang="en-US" sz="2000" dirty="0">
                <a:solidFill>
                  <a:srgbClr val="666666"/>
                </a:solidFill>
                <a:effectLst/>
                <a:latin typeface="Times New Roman" panose="02020603050405020304" pitchFamily="18" charset="0"/>
                <a:cs typeface="Times New Roman" panose="02020603050405020304" pitchFamily="18" charset="0"/>
              </a:rPr>
            </a:b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85F9FF"/>
                </a:solidFill>
                <a:effectLst/>
                <a:latin typeface="Times New Roman" panose="02020603050405020304" pitchFamily="18" charset="0"/>
                <a:cs typeface="Times New Roman" panose="02020603050405020304" pitchFamily="18" charset="0"/>
              </a:rPr>
              <a:t>1) The percentages of the Winner Take All methods are significantly different than the percentages of the other methods and the popular vote percentages. </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FF9393"/>
                </a:solidFill>
                <a:effectLst/>
                <a:latin typeface="Times New Roman" panose="02020603050405020304" pitchFamily="18" charset="0"/>
                <a:cs typeface="Times New Roman" panose="02020603050405020304" pitchFamily="18" charset="0"/>
              </a:rPr>
              <a:t>2) The Winner Take All methods seem to inflate the Electoral College percentages of leading candidates and suppress the Electoral College percentages of lagging competitors.</a:t>
            </a:r>
            <a:r>
              <a:rPr lang="en-US" sz="2000" dirty="0">
                <a:solidFill>
                  <a:srgbClr val="FFFFFF"/>
                </a:solidFill>
                <a:effectLst/>
                <a:latin typeface="Times New Roman" panose="02020603050405020304" pitchFamily="18" charset="0"/>
                <a:cs typeface="Times New Roman" panose="02020603050405020304" pitchFamily="18" charset="0"/>
              </a:rPr>
              <a:t> </a:t>
            </a:r>
            <a:br>
              <a:rPr lang="en-US" sz="2000" dirty="0">
                <a:solidFill>
                  <a:srgbClr val="666666"/>
                </a:solidFill>
                <a:effectLst/>
                <a:latin typeface="Times New Roman" panose="02020603050405020304" pitchFamily="18" charset="0"/>
                <a:cs typeface="Times New Roman" panose="02020603050405020304" pitchFamily="18" charset="0"/>
              </a:rPr>
            </a:b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B778FF"/>
                </a:solidFill>
                <a:effectLst/>
                <a:latin typeface="Times New Roman" panose="02020603050405020304" pitchFamily="18" charset="0"/>
                <a:cs typeface="Times New Roman" panose="02020603050405020304" pitchFamily="18" charset="0"/>
              </a:rPr>
              <a:t>3) Due to the inflation and suppression of the Winner Take All method, utilized by most states currently, the 2016 U.S. Presidential Election had a decisive winner. The other methods would have resulted in no candidate securing over 50 percent of the Electoral College and the election would have been decided by Congressional vote.</a:t>
            </a:r>
            <a:br>
              <a:rPr lang="en-US" sz="2000" dirty="0">
                <a:solidFill>
                  <a:srgbClr val="666666"/>
                </a:solidFill>
                <a:effectLst/>
                <a:latin typeface="Times New Roman" panose="02020603050405020304" pitchFamily="18" charset="0"/>
                <a:cs typeface="Times New Roman" panose="02020603050405020304" pitchFamily="18" charset="0"/>
              </a:rPr>
            </a:b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AFC8FF"/>
                </a:solidFill>
                <a:effectLst/>
                <a:latin typeface="Times New Roman" panose="02020603050405020304" pitchFamily="18" charset="0"/>
                <a:cs typeface="Times New Roman" panose="02020603050405020304" pitchFamily="18" charset="0"/>
              </a:rPr>
              <a:t>4) Methods other than Winner Take All allowed for third party candidates to receive Electoral College Votes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1429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50000"/>
            <a:lumOff val="50000"/>
          </a:schemeClr>
        </a:solidFill>
        <a:effectLst/>
      </p:bgPr>
    </p:bg>
    <p:spTree>
      <p:nvGrpSpPr>
        <p:cNvPr id="1" name="">
          <a:extLst>
            <a:ext uri="{FF2B5EF4-FFF2-40B4-BE49-F238E27FC236}">
              <a16:creationId xmlns:a16="http://schemas.microsoft.com/office/drawing/2014/main" id="{E907CF3F-AF20-9A41-63B5-8C531CC97E5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4A12186-27F5-1547-A8AF-5C67B418A8A9}"/>
              </a:ext>
            </a:extLst>
          </p:cNvPr>
          <p:cNvPicPr>
            <a:picLocks noChangeAspect="1"/>
          </p:cNvPicPr>
          <p:nvPr/>
        </p:nvPicPr>
        <p:blipFill>
          <a:blip r:embed="rId2"/>
          <a:stretch>
            <a:fillRect/>
          </a:stretch>
        </p:blipFill>
        <p:spPr>
          <a:xfrm>
            <a:off x="392906" y="0"/>
            <a:ext cx="11337132" cy="6858000"/>
          </a:xfrm>
          <a:prstGeom prst="rect">
            <a:avLst/>
          </a:prstGeom>
        </p:spPr>
      </p:pic>
    </p:spTree>
    <p:extLst>
      <p:ext uri="{BB962C8B-B14F-4D97-AF65-F5344CB8AC3E}">
        <p14:creationId xmlns:p14="http://schemas.microsoft.com/office/powerpoint/2010/main" val="17511725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lumMod val="50000"/>
            <a:lumOff val="5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E9A22E-ED78-9C85-10F3-CA28CCA45FBE}"/>
              </a:ext>
            </a:extLst>
          </p:cNvPr>
          <p:cNvPicPr>
            <a:picLocks noChangeAspect="1"/>
          </p:cNvPicPr>
          <p:nvPr/>
        </p:nvPicPr>
        <p:blipFill>
          <a:blip r:embed="rId2"/>
          <a:stretch>
            <a:fillRect/>
          </a:stretch>
        </p:blipFill>
        <p:spPr>
          <a:xfrm>
            <a:off x="398714" y="0"/>
            <a:ext cx="11394572" cy="6858000"/>
          </a:xfrm>
          <a:prstGeom prst="rect">
            <a:avLst/>
          </a:prstGeom>
        </p:spPr>
      </p:pic>
    </p:spTree>
    <p:extLst>
      <p:ext uri="{BB962C8B-B14F-4D97-AF65-F5344CB8AC3E}">
        <p14:creationId xmlns:p14="http://schemas.microsoft.com/office/powerpoint/2010/main" val="644679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lumMod val="50000"/>
            <a:lumOff val="5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5CFB3E-49B7-1A2D-A530-D5F2C1C2D6F2}"/>
              </a:ext>
            </a:extLst>
          </p:cNvPr>
          <p:cNvPicPr>
            <a:picLocks noChangeAspect="1"/>
          </p:cNvPicPr>
          <p:nvPr/>
        </p:nvPicPr>
        <p:blipFill>
          <a:blip r:embed="rId2"/>
          <a:stretch>
            <a:fillRect/>
          </a:stretch>
        </p:blipFill>
        <p:spPr>
          <a:xfrm>
            <a:off x="377202" y="0"/>
            <a:ext cx="11437595" cy="6858000"/>
          </a:xfrm>
          <a:prstGeom prst="rect">
            <a:avLst/>
          </a:prstGeom>
        </p:spPr>
      </p:pic>
    </p:spTree>
    <p:extLst>
      <p:ext uri="{BB962C8B-B14F-4D97-AF65-F5344CB8AC3E}">
        <p14:creationId xmlns:p14="http://schemas.microsoft.com/office/powerpoint/2010/main" val="2446848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lumMod val="50000"/>
            <a:lumOff val="5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DF2AD8-453B-F005-98B9-7D4A43FFBD6B}"/>
              </a:ext>
            </a:extLst>
          </p:cNvPr>
          <p:cNvPicPr>
            <a:picLocks noChangeAspect="1"/>
          </p:cNvPicPr>
          <p:nvPr/>
        </p:nvPicPr>
        <p:blipFill>
          <a:blip r:embed="rId2"/>
          <a:stretch>
            <a:fillRect/>
          </a:stretch>
        </p:blipFill>
        <p:spPr>
          <a:xfrm>
            <a:off x="264319" y="0"/>
            <a:ext cx="11658600" cy="6858000"/>
          </a:xfrm>
          <a:prstGeom prst="rect">
            <a:avLst/>
          </a:prstGeom>
        </p:spPr>
      </p:pic>
    </p:spTree>
    <p:extLst>
      <p:ext uri="{BB962C8B-B14F-4D97-AF65-F5344CB8AC3E}">
        <p14:creationId xmlns:p14="http://schemas.microsoft.com/office/powerpoint/2010/main" val="308596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0600C88-E614-C0FC-57B9-7C6AD37EF0A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CB30EB-38B8-1E0E-4405-8A8911E8A8F5}"/>
              </a:ext>
            </a:extLst>
          </p:cNvPr>
          <p:cNvSpPr txBox="1"/>
          <p:nvPr/>
        </p:nvSpPr>
        <p:spPr>
          <a:xfrm>
            <a:off x="6822281" y="2245816"/>
            <a:ext cx="4966691" cy="3970318"/>
          </a:xfrm>
          <a:prstGeom prst="rect">
            <a:avLst/>
          </a:prstGeom>
          <a:noFill/>
        </p:spPr>
        <p:txBody>
          <a:bodyPr wrap="square">
            <a:spAutoFit/>
          </a:bodyPr>
          <a:lstStyle/>
          <a:p>
            <a:pPr algn="ctr"/>
            <a:r>
              <a:rPr lang="en-US" sz="3600" dirty="0">
                <a:solidFill>
                  <a:srgbClr val="BE2E93"/>
                </a:solidFill>
                <a:effectLst/>
                <a:latin typeface="Times New Roman" panose="02020603050405020304" pitchFamily="18" charset="0"/>
              </a:rPr>
              <a:t>In the following graphs please note how the uncapped Electoral College methods are aligned more closely with the Popular Vote Percentages.</a:t>
            </a:r>
            <a:endParaRPr lang="en-US" sz="3600" dirty="0"/>
          </a:p>
        </p:txBody>
      </p:sp>
      <p:sp>
        <p:nvSpPr>
          <p:cNvPr id="5" name="TextBox 4">
            <a:extLst>
              <a:ext uri="{FF2B5EF4-FFF2-40B4-BE49-F238E27FC236}">
                <a16:creationId xmlns:a16="http://schemas.microsoft.com/office/drawing/2014/main" id="{FBA19A24-A10F-430E-337E-49B862CD03B1}"/>
              </a:ext>
            </a:extLst>
          </p:cNvPr>
          <p:cNvSpPr txBox="1"/>
          <p:nvPr/>
        </p:nvSpPr>
        <p:spPr>
          <a:xfrm>
            <a:off x="403028" y="2245816"/>
            <a:ext cx="6097190" cy="4216539"/>
          </a:xfrm>
          <a:prstGeom prst="rect">
            <a:avLst/>
          </a:prstGeom>
          <a:noFill/>
        </p:spPr>
        <p:txBody>
          <a:bodyPr wrap="square">
            <a:spAutoFit/>
          </a:bodyPr>
          <a:lstStyle/>
          <a:p>
            <a:pPr algn="ctr">
              <a:buNone/>
            </a:pPr>
            <a:r>
              <a:rPr lang="en-US" sz="2800" b="1" dirty="0">
                <a:solidFill>
                  <a:srgbClr val="FFFFFF"/>
                </a:solidFill>
                <a:effectLst/>
                <a:latin typeface="Times New Roman" panose="02020603050405020304" pitchFamily="18" charset="0"/>
                <a:cs typeface="Times New Roman" panose="02020603050405020304" pitchFamily="18" charset="0"/>
              </a:rPr>
              <a:t>Method Percentages Compared</a:t>
            </a:r>
            <a:endParaRPr lang="en-US" sz="2800" b="1" dirty="0">
              <a:effectLst/>
              <a:latin typeface="Times New Roman" panose="02020603050405020304" pitchFamily="18" charset="0"/>
              <a:cs typeface="Times New Roman" panose="02020603050405020304" pitchFamily="18" charset="0"/>
            </a:endParaRPr>
          </a:p>
          <a:p>
            <a:pPr algn="ctr">
              <a:buNone/>
            </a:pPr>
            <a:endParaRPr lang="en-US" sz="24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75A1C7"/>
                </a:solidFill>
                <a:effectLst/>
                <a:latin typeface="Times New Roman" panose="02020603050405020304" pitchFamily="18" charset="0"/>
                <a:cs typeface="Times New Roman" panose="02020603050405020304" pitchFamily="18" charset="0"/>
              </a:rPr>
              <a:t>Full Divide - Capped Electoral College</a:t>
            </a:r>
            <a:endParaRPr lang="en-US" sz="2400" dirty="0">
              <a:effectLst/>
              <a:latin typeface="Times New Roman" panose="02020603050405020304" pitchFamily="18" charset="0"/>
              <a:cs typeface="Times New Roman" panose="02020603050405020304" pitchFamily="18" charset="0"/>
            </a:endParaRPr>
          </a:p>
          <a:p>
            <a:pPr>
              <a:buNone/>
            </a:pPr>
            <a:endParaRPr lang="en-US" sz="24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F9A655"/>
                </a:solidFill>
                <a:effectLst/>
                <a:latin typeface="Times New Roman" panose="02020603050405020304" pitchFamily="18" charset="0"/>
                <a:cs typeface="Times New Roman" panose="02020603050405020304" pitchFamily="18" charset="0"/>
              </a:rPr>
              <a:t>Nebraska-like - Capped Electoral College</a:t>
            </a:r>
            <a:endParaRPr lang="en-US" sz="2400" dirty="0">
              <a:effectLst/>
              <a:latin typeface="Times New Roman" panose="02020603050405020304" pitchFamily="18" charset="0"/>
              <a:cs typeface="Times New Roman" panose="02020603050405020304" pitchFamily="18" charset="0"/>
            </a:endParaRPr>
          </a:p>
          <a:p>
            <a:pPr>
              <a:buNone/>
            </a:pPr>
            <a:endParaRPr lang="en-US" sz="24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EDC948"/>
                </a:solidFill>
                <a:effectLst/>
                <a:latin typeface="Times New Roman" panose="02020603050405020304" pitchFamily="18" charset="0"/>
                <a:cs typeface="Times New Roman" panose="02020603050405020304" pitchFamily="18" charset="0"/>
              </a:rPr>
              <a:t>Full Divide - Uncapped Electoral College</a:t>
            </a:r>
            <a:endParaRPr lang="en-US" sz="2400" dirty="0">
              <a:effectLst/>
              <a:latin typeface="Times New Roman" panose="02020603050405020304" pitchFamily="18" charset="0"/>
              <a:cs typeface="Times New Roman" panose="02020603050405020304" pitchFamily="18" charset="0"/>
            </a:endParaRPr>
          </a:p>
          <a:p>
            <a:pPr>
              <a:buNone/>
            </a:pPr>
            <a:endParaRPr lang="en-US" sz="24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72B966"/>
                </a:solidFill>
                <a:effectLst/>
                <a:latin typeface="Times New Roman" panose="02020603050405020304" pitchFamily="18" charset="0"/>
                <a:cs typeface="Times New Roman" panose="02020603050405020304" pitchFamily="18" charset="0"/>
              </a:rPr>
              <a:t>Nebraska-like - Uncapped Electoral College</a:t>
            </a:r>
            <a:endParaRPr lang="en-US" sz="2400" dirty="0">
              <a:effectLst/>
              <a:latin typeface="Times New Roman" panose="02020603050405020304" pitchFamily="18" charset="0"/>
              <a:cs typeface="Times New Roman" panose="02020603050405020304" pitchFamily="18" charset="0"/>
            </a:endParaRPr>
          </a:p>
          <a:p>
            <a:pPr>
              <a:buNone/>
            </a:pPr>
            <a:endParaRPr lang="en-US" sz="24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B778FF"/>
                </a:solidFill>
                <a:effectLst/>
                <a:latin typeface="Times New Roman" panose="02020603050405020304" pitchFamily="18" charset="0"/>
                <a:cs typeface="Times New Roman" panose="02020603050405020304" pitchFamily="18" charset="0"/>
              </a:rPr>
              <a:t>Popular Vote Percentage</a:t>
            </a:r>
            <a:endParaRPr 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CE3CF63-B268-B242-C1B2-91537425F5B1}"/>
              </a:ext>
            </a:extLst>
          </p:cNvPr>
          <p:cNvSpPr txBox="1"/>
          <p:nvPr/>
        </p:nvSpPr>
        <p:spPr>
          <a:xfrm>
            <a:off x="178594" y="256461"/>
            <a:ext cx="12013406" cy="1708160"/>
          </a:xfrm>
          <a:prstGeom prst="rect">
            <a:avLst/>
          </a:prstGeom>
          <a:noFill/>
        </p:spPr>
        <p:txBody>
          <a:bodyPr wrap="square">
            <a:spAutoFit/>
          </a:bodyPr>
          <a:lstStyle/>
          <a:p>
            <a:pPr algn="ctr">
              <a:buNone/>
            </a:pPr>
            <a:r>
              <a:rPr lang="en-US" sz="3600" b="1" dirty="0">
                <a:solidFill>
                  <a:srgbClr val="FFFFFF"/>
                </a:solidFill>
                <a:effectLst/>
                <a:latin typeface="Times New Roman" panose="02020603050405020304" pitchFamily="18" charset="0"/>
                <a:cs typeface="Times New Roman" panose="02020603050405020304" pitchFamily="18" charset="0"/>
              </a:rPr>
              <a:t>Interpreting The Results</a:t>
            </a:r>
            <a:endParaRPr lang="en-US" sz="3600" b="1" dirty="0">
              <a:effectLst/>
              <a:latin typeface="Times New Roman" panose="02020603050405020304" pitchFamily="18" charset="0"/>
              <a:cs typeface="Times New Roman" panose="02020603050405020304" pitchFamily="18" charset="0"/>
            </a:endParaRPr>
          </a:p>
          <a:p>
            <a:pPr algn="ctr">
              <a:buNone/>
            </a:pPr>
            <a:endParaRPr lang="en-US" sz="700" dirty="0">
              <a:solidFill>
                <a:srgbClr val="666666"/>
              </a:solidFill>
              <a:effectLst/>
              <a:latin typeface="Tableau Book"/>
            </a:endParaRPr>
          </a:p>
          <a:p>
            <a:pPr algn="ctr">
              <a:buNone/>
            </a:pPr>
            <a:br>
              <a:rPr lang="en-US" sz="700" dirty="0">
                <a:solidFill>
                  <a:srgbClr val="666666"/>
                </a:solidFill>
                <a:effectLst/>
                <a:latin typeface="Tableau Book"/>
              </a:rPr>
            </a:br>
            <a:endParaRPr lang="en-US" sz="700" dirty="0">
              <a:solidFill>
                <a:srgbClr val="666666"/>
              </a:solidFill>
              <a:effectLst/>
              <a:latin typeface="Tableau Book"/>
            </a:endParaRPr>
          </a:p>
          <a:p>
            <a:pPr>
              <a:buNone/>
            </a:pPr>
            <a:r>
              <a:rPr lang="en-US" sz="2400" dirty="0">
                <a:solidFill>
                  <a:srgbClr val="FFFFFF"/>
                </a:solidFill>
                <a:effectLst/>
                <a:latin typeface="Times New Roman" panose="02020603050405020304" pitchFamily="18" charset="0"/>
              </a:rPr>
              <a:t>The four graphs, following this slide, depict a more detailed comparison of popular vote and the four more closely associated method percentages as seen by the previous slides.</a:t>
            </a:r>
            <a:endParaRPr lang="en-US" sz="2400" dirty="0"/>
          </a:p>
        </p:txBody>
      </p:sp>
    </p:spTree>
    <p:extLst>
      <p:ext uri="{BB962C8B-B14F-4D97-AF65-F5344CB8AC3E}">
        <p14:creationId xmlns:p14="http://schemas.microsoft.com/office/powerpoint/2010/main" val="2277051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47CCEFE-A099-BFB7-118D-FA147C8A4105}"/>
              </a:ext>
            </a:extLst>
          </p:cNvPr>
          <p:cNvPicPr>
            <a:picLocks noChangeAspect="1"/>
          </p:cNvPicPr>
          <p:nvPr/>
        </p:nvPicPr>
        <p:blipFill>
          <a:blip r:embed="rId2"/>
          <a:stretch>
            <a:fillRect/>
          </a:stretch>
        </p:blipFill>
        <p:spPr>
          <a:xfrm>
            <a:off x="92383" y="0"/>
            <a:ext cx="12007234" cy="6858000"/>
          </a:xfrm>
          <a:prstGeom prst="rect">
            <a:avLst/>
          </a:prstGeom>
        </p:spPr>
      </p:pic>
    </p:spTree>
    <p:extLst>
      <p:ext uri="{BB962C8B-B14F-4D97-AF65-F5344CB8AC3E}">
        <p14:creationId xmlns:p14="http://schemas.microsoft.com/office/powerpoint/2010/main" val="32644897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0BD7FB-88A4-E8D3-073C-05A3DE0CC501}"/>
              </a:ext>
            </a:extLst>
          </p:cNvPr>
          <p:cNvPicPr>
            <a:picLocks noChangeAspect="1"/>
          </p:cNvPicPr>
          <p:nvPr/>
        </p:nvPicPr>
        <p:blipFill>
          <a:blip r:embed="rId2"/>
          <a:stretch>
            <a:fillRect/>
          </a:stretch>
        </p:blipFill>
        <p:spPr>
          <a:xfrm>
            <a:off x="35116" y="0"/>
            <a:ext cx="12121767" cy="6858000"/>
          </a:xfrm>
          <a:prstGeom prst="rect">
            <a:avLst/>
          </a:prstGeom>
        </p:spPr>
      </p:pic>
    </p:spTree>
    <p:extLst>
      <p:ext uri="{BB962C8B-B14F-4D97-AF65-F5344CB8AC3E}">
        <p14:creationId xmlns:p14="http://schemas.microsoft.com/office/powerpoint/2010/main" val="2153380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5148B0-9488-BA62-E822-06A5C9FAAC41}"/>
              </a:ext>
            </a:extLst>
          </p:cNvPr>
          <p:cNvPicPr>
            <a:picLocks noChangeAspect="1"/>
          </p:cNvPicPr>
          <p:nvPr/>
        </p:nvPicPr>
        <p:blipFill>
          <a:blip r:embed="rId2"/>
          <a:stretch>
            <a:fillRect/>
          </a:stretch>
        </p:blipFill>
        <p:spPr>
          <a:xfrm>
            <a:off x="206022" y="0"/>
            <a:ext cx="11779956" cy="6858000"/>
          </a:xfrm>
          <a:prstGeom prst="rect">
            <a:avLst/>
          </a:prstGeom>
        </p:spPr>
      </p:pic>
    </p:spTree>
    <p:extLst>
      <p:ext uri="{BB962C8B-B14F-4D97-AF65-F5344CB8AC3E}">
        <p14:creationId xmlns:p14="http://schemas.microsoft.com/office/powerpoint/2010/main" val="2634476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2E44B0-F493-7451-F09A-F4FEC021C422}"/>
              </a:ext>
            </a:extLst>
          </p:cNvPr>
          <p:cNvPicPr>
            <a:picLocks noChangeAspect="1"/>
          </p:cNvPicPr>
          <p:nvPr/>
        </p:nvPicPr>
        <p:blipFill>
          <a:blip r:embed="rId2"/>
          <a:stretch>
            <a:fillRect/>
          </a:stretch>
        </p:blipFill>
        <p:spPr>
          <a:xfrm>
            <a:off x="140951" y="0"/>
            <a:ext cx="11910097" cy="6858000"/>
          </a:xfrm>
          <a:prstGeom prst="rect">
            <a:avLst/>
          </a:prstGeom>
        </p:spPr>
      </p:pic>
    </p:spTree>
    <p:extLst>
      <p:ext uri="{BB962C8B-B14F-4D97-AF65-F5344CB8AC3E}">
        <p14:creationId xmlns:p14="http://schemas.microsoft.com/office/powerpoint/2010/main" val="2600922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E30ABC1-253E-0E0B-D6B3-D9C228D232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34FADA8-0F64-05C0-35B9-37EF6D8359DF}"/>
              </a:ext>
            </a:extLst>
          </p:cNvPr>
          <p:cNvSpPr txBox="1"/>
          <p:nvPr/>
        </p:nvSpPr>
        <p:spPr>
          <a:xfrm>
            <a:off x="385763" y="335846"/>
            <a:ext cx="11315700" cy="5755422"/>
          </a:xfrm>
          <a:prstGeom prst="rect">
            <a:avLst/>
          </a:prstGeom>
          <a:noFill/>
        </p:spPr>
        <p:txBody>
          <a:bodyPr wrap="square">
            <a:spAutoFit/>
          </a:bodyPr>
          <a:lstStyle/>
          <a:p>
            <a:pPr algn="ctr">
              <a:buNone/>
            </a:pPr>
            <a:r>
              <a:rPr lang="en-US" sz="3600" dirty="0">
                <a:solidFill>
                  <a:srgbClr val="FFFFFF"/>
                </a:solidFill>
                <a:effectLst/>
                <a:latin typeface="Times New Roman" panose="02020603050405020304" pitchFamily="18" charset="0"/>
                <a:cs typeface="Times New Roman" panose="02020603050405020304" pitchFamily="18" charset="0"/>
              </a:rPr>
              <a:t>Interpreting The Results</a:t>
            </a:r>
            <a:endParaRPr lang="en-US" sz="3600" dirty="0">
              <a:effectLst/>
              <a:latin typeface="Times New Roman" panose="02020603050405020304" pitchFamily="18" charset="0"/>
              <a:cs typeface="Times New Roman" panose="02020603050405020304" pitchFamily="18" charset="0"/>
            </a:endParaRPr>
          </a:p>
          <a:p>
            <a:pPr algn="ctr">
              <a:buNone/>
            </a:pPr>
            <a:endParaRPr lang="en-US" sz="1000" dirty="0">
              <a:solidFill>
                <a:srgbClr val="666666"/>
              </a:solidFill>
              <a:effectLst/>
              <a:latin typeface="Times New Roman" panose="02020603050405020304" pitchFamily="18" charset="0"/>
              <a:cs typeface="Times New Roman" panose="02020603050405020304" pitchFamily="18" charset="0"/>
            </a:endParaRPr>
          </a:p>
          <a:p>
            <a:pPr algn="ctr">
              <a:buNone/>
            </a:pPr>
            <a:endParaRPr lang="en-US" sz="1000" dirty="0">
              <a:solidFill>
                <a:srgbClr val="666666"/>
              </a:solidFill>
              <a:latin typeface="Times New Roman" panose="02020603050405020304" pitchFamily="18" charset="0"/>
              <a:cs typeface="Times New Roman" panose="02020603050405020304" pitchFamily="18" charset="0"/>
            </a:endParaRPr>
          </a:p>
          <a:p>
            <a:pPr algn="ctr">
              <a:buNone/>
            </a:pPr>
            <a:br>
              <a:rPr lang="en-US" sz="2400" dirty="0">
                <a:solidFill>
                  <a:srgbClr val="666666"/>
                </a:solidFill>
                <a:effectLst/>
                <a:latin typeface="Times New Roman" panose="02020603050405020304" pitchFamily="18" charset="0"/>
                <a:cs typeface="Times New Roman" panose="02020603050405020304" pitchFamily="18" charset="0"/>
              </a:rPr>
            </a:br>
            <a:r>
              <a:rPr lang="en-US" sz="2400" dirty="0">
                <a:solidFill>
                  <a:srgbClr val="FF9D9A"/>
                </a:solidFill>
                <a:effectLst/>
                <a:latin typeface="Times New Roman" panose="02020603050405020304" pitchFamily="18" charset="0"/>
                <a:cs typeface="Times New Roman" panose="02020603050405020304" pitchFamily="18" charset="0"/>
              </a:rPr>
              <a:t>As the percentages of the uncapped Full Divide and uncapped Nebraska-like methods were closest to the popular vote percentage, the final graphs focus on the precision of each method in proximity to the popular vote percentage. To determine this precision, the popular vote percentage was subtracted from the percentage of each method and repeated for each of the top two candidates in the U.S. Presidential Elections of 2008, 2012, 2016, and 2020. </a:t>
            </a:r>
            <a:endParaRPr lang="en-US" sz="2400" dirty="0">
              <a:effectLst/>
              <a:latin typeface="Times New Roman" panose="02020603050405020304" pitchFamily="18" charset="0"/>
              <a:cs typeface="Times New Roman" panose="02020603050405020304" pitchFamily="18" charset="0"/>
            </a:endParaRPr>
          </a:p>
          <a:p>
            <a:pPr algn="ctr">
              <a:buNone/>
            </a:pPr>
            <a:br>
              <a:rPr lang="en-US" sz="2400" dirty="0">
                <a:solidFill>
                  <a:srgbClr val="666666"/>
                </a:solidFill>
                <a:effectLst/>
                <a:latin typeface="Times New Roman" panose="02020603050405020304" pitchFamily="18" charset="0"/>
                <a:cs typeface="Times New Roman" panose="02020603050405020304" pitchFamily="18" charset="0"/>
              </a:rPr>
            </a:br>
            <a:r>
              <a:rPr lang="en-US" sz="2400" dirty="0">
                <a:solidFill>
                  <a:srgbClr val="A0CBE8"/>
                </a:solidFill>
                <a:effectLst/>
                <a:latin typeface="Times New Roman" panose="02020603050405020304" pitchFamily="18" charset="0"/>
                <a:cs typeface="Times New Roman" panose="02020603050405020304" pitchFamily="18" charset="0"/>
              </a:rPr>
              <a:t>Unfortunately, the following graphs do not render a clear decision for the most accurate method of distributing Electoral College Votes. Each method's difference from the popular vote percentage stays within a fifth of a percent and each method has a smaller difference in two of the elections. Therefore, one method cannot be determined to be superior without further analysis and increased sample sizes.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11651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69234D-13B9-14B2-F30C-ECD2DE3436BA}"/>
              </a:ext>
            </a:extLst>
          </p:cNvPr>
          <p:cNvPicPr>
            <a:picLocks noChangeAspect="1"/>
          </p:cNvPicPr>
          <p:nvPr/>
        </p:nvPicPr>
        <p:blipFill>
          <a:blip r:embed="rId2"/>
          <a:stretch>
            <a:fillRect/>
          </a:stretch>
        </p:blipFill>
        <p:spPr>
          <a:xfrm>
            <a:off x="0" y="19996"/>
            <a:ext cx="12192000" cy="6818007"/>
          </a:xfrm>
          <a:prstGeom prst="rect">
            <a:avLst/>
          </a:prstGeom>
        </p:spPr>
      </p:pic>
    </p:spTree>
    <p:extLst>
      <p:ext uri="{BB962C8B-B14F-4D97-AF65-F5344CB8AC3E}">
        <p14:creationId xmlns:p14="http://schemas.microsoft.com/office/powerpoint/2010/main" val="432016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CCCCFF"/>
        </a:solidFill>
        <a:effectLst/>
      </p:bgPr>
    </p:bg>
    <p:spTree>
      <p:nvGrpSpPr>
        <p:cNvPr id="1" name="">
          <a:extLst>
            <a:ext uri="{FF2B5EF4-FFF2-40B4-BE49-F238E27FC236}">
              <a16:creationId xmlns:a16="http://schemas.microsoft.com/office/drawing/2014/main" id="{652A96D8-0FF8-9C5B-21A5-5E19F0C7320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FDABE2B-96D6-1CA8-A9A5-F053B8432F32}"/>
              </a:ext>
            </a:extLst>
          </p:cNvPr>
          <p:cNvSpPr txBox="1"/>
          <p:nvPr/>
        </p:nvSpPr>
        <p:spPr>
          <a:xfrm>
            <a:off x="114300" y="305068"/>
            <a:ext cx="12191999" cy="6801862"/>
          </a:xfrm>
          <a:prstGeom prst="rect">
            <a:avLst/>
          </a:prstGeom>
          <a:noFill/>
        </p:spPr>
        <p:txBody>
          <a:bodyPr wrap="square">
            <a:spAutoFit/>
          </a:bodyPr>
          <a:lstStyle/>
          <a:p>
            <a:pPr algn="ctr">
              <a:buNone/>
            </a:pPr>
            <a:r>
              <a:rPr lang="en-US" sz="3600" b="1" u="sng" dirty="0">
                <a:solidFill>
                  <a:srgbClr val="000000"/>
                </a:solidFill>
                <a:effectLst/>
                <a:latin typeface="Times New Roman" panose="02020603050405020304" pitchFamily="18" charset="0"/>
                <a:cs typeface="Times New Roman" panose="02020603050405020304" pitchFamily="18" charset="0"/>
              </a:rPr>
              <a:t>Data Sets</a:t>
            </a:r>
            <a:endParaRPr lang="en-US" sz="3600" dirty="0">
              <a:effectLst/>
              <a:latin typeface="Times New Roman" panose="02020603050405020304" pitchFamily="18" charset="0"/>
              <a:cs typeface="Times New Roman" panose="02020603050405020304" pitchFamily="18" charset="0"/>
            </a:endParaRPr>
          </a:p>
          <a:p>
            <a:pPr algn="ct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lgn="ct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FEC. (2009, July). </a:t>
            </a:r>
            <a:r>
              <a:rPr lang="en-US" sz="2000" i="1" dirty="0">
                <a:solidFill>
                  <a:srgbClr val="000000"/>
                </a:solidFill>
                <a:effectLst/>
                <a:latin typeface="Times New Roman" panose="02020603050405020304" pitchFamily="18" charset="0"/>
                <a:cs typeface="Times New Roman" panose="02020603050405020304" pitchFamily="18" charset="0"/>
              </a:rPr>
              <a:t>Federal elections 2008</a:t>
            </a:r>
            <a:r>
              <a:rPr lang="en-US" sz="2000" dirty="0">
                <a:solidFill>
                  <a:srgbClr val="000000"/>
                </a:solidFill>
                <a:effectLst/>
                <a:latin typeface="Times New Roman" panose="02020603050405020304" pitchFamily="18" charset="0"/>
                <a:cs typeface="Times New Roman" panose="02020603050405020304" pitchFamily="18" charset="0"/>
              </a:rPr>
              <a:t>. [2008 Presidential General Election Results]. FEC.gov. </a:t>
            </a:r>
            <a:r>
              <a:rPr lang="en-US" sz="2000" u="sng" dirty="0">
                <a:solidFill>
                  <a:srgbClr val="0000FF"/>
                </a:solidFill>
                <a:effectLst/>
                <a:latin typeface="Times New Roman" panose="02020603050405020304" pitchFamily="18" charset="0"/>
                <a:cs typeface="Times New Roman" panose="02020603050405020304" pitchFamily="18" charset="0"/>
              </a:rPr>
              <a:t>https://www.fec.gov/introduction-campaign-finance/election-results-and-voting-information/federal-elections-2008/</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Leamon, E. J., &amp; </a:t>
            </a:r>
            <a:r>
              <a:rPr lang="en-US" sz="2000" dirty="0" err="1">
                <a:solidFill>
                  <a:srgbClr val="000000"/>
                </a:solidFill>
                <a:effectLst/>
                <a:latin typeface="Times New Roman" panose="02020603050405020304" pitchFamily="18" charset="0"/>
                <a:cs typeface="Times New Roman" panose="02020603050405020304" pitchFamily="18" charset="0"/>
              </a:rPr>
              <a:t>Bucelato</a:t>
            </a:r>
            <a:r>
              <a:rPr lang="en-US" sz="2000" dirty="0">
                <a:solidFill>
                  <a:srgbClr val="000000"/>
                </a:solidFill>
                <a:effectLst/>
                <a:latin typeface="Times New Roman" panose="02020603050405020304" pitchFamily="18" charset="0"/>
                <a:cs typeface="Times New Roman" panose="02020603050405020304" pitchFamily="18" charset="0"/>
              </a:rPr>
              <a:t>, J. (Eds.). FEC. (2015). </a:t>
            </a:r>
            <a:r>
              <a:rPr lang="en-US" sz="2000" i="1" dirty="0">
                <a:solidFill>
                  <a:srgbClr val="000000"/>
                </a:solidFill>
                <a:effectLst/>
                <a:latin typeface="Times New Roman" panose="02020603050405020304" pitchFamily="18" charset="0"/>
                <a:cs typeface="Times New Roman" panose="02020603050405020304" pitchFamily="18" charset="0"/>
              </a:rPr>
              <a:t>Federal elections 2012</a:t>
            </a:r>
            <a:r>
              <a:rPr lang="en-US" sz="2000" dirty="0">
                <a:solidFill>
                  <a:srgbClr val="000000"/>
                </a:solidFill>
                <a:effectLst/>
                <a:latin typeface="Times New Roman" panose="02020603050405020304" pitchFamily="18" charset="0"/>
                <a:cs typeface="Times New Roman" panose="02020603050405020304" pitchFamily="18" charset="0"/>
              </a:rPr>
              <a:t>. [2012 Presidential Election Results]. FEC.gov. </a:t>
            </a:r>
            <a:r>
              <a:rPr lang="en-US" sz="2000" u="sng" dirty="0">
                <a:solidFill>
                  <a:srgbClr val="0000FF"/>
                </a:solidFill>
                <a:effectLst/>
                <a:latin typeface="Times New Roman" panose="02020603050405020304" pitchFamily="18" charset="0"/>
                <a:cs typeface="Times New Roman" panose="02020603050405020304" pitchFamily="18" charset="0"/>
              </a:rPr>
              <a:t>https://www.fec.gov/introduction-campaign-finance/election-results-and-voting-information/federal-elections-2012/</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Leamon, E. J., &amp; </a:t>
            </a:r>
            <a:r>
              <a:rPr lang="en-US" sz="2000" dirty="0" err="1">
                <a:solidFill>
                  <a:srgbClr val="000000"/>
                </a:solidFill>
                <a:effectLst/>
                <a:latin typeface="Times New Roman" panose="02020603050405020304" pitchFamily="18" charset="0"/>
                <a:cs typeface="Times New Roman" panose="02020603050405020304" pitchFamily="18" charset="0"/>
              </a:rPr>
              <a:t>Bucelato</a:t>
            </a:r>
            <a:r>
              <a:rPr lang="en-US" sz="2000" dirty="0">
                <a:solidFill>
                  <a:srgbClr val="000000"/>
                </a:solidFill>
                <a:effectLst/>
                <a:latin typeface="Times New Roman" panose="02020603050405020304" pitchFamily="18" charset="0"/>
                <a:cs typeface="Times New Roman" panose="02020603050405020304" pitchFamily="18" charset="0"/>
              </a:rPr>
              <a:t>, J. (Eds.). FEC. (2023, Jan.). </a:t>
            </a:r>
            <a:r>
              <a:rPr lang="en-US" sz="2000" i="1" dirty="0">
                <a:solidFill>
                  <a:srgbClr val="000000"/>
                </a:solidFill>
                <a:effectLst/>
                <a:latin typeface="Times New Roman" panose="02020603050405020304" pitchFamily="18" charset="0"/>
                <a:cs typeface="Times New Roman" panose="02020603050405020304" pitchFamily="18" charset="0"/>
              </a:rPr>
              <a:t>Federal elections 2016</a:t>
            </a:r>
            <a:r>
              <a:rPr lang="en-US" sz="2000" dirty="0">
                <a:solidFill>
                  <a:srgbClr val="000000"/>
                </a:solidFill>
                <a:effectLst/>
                <a:latin typeface="Times New Roman" panose="02020603050405020304" pitchFamily="18" charset="0"/>
                <a:cs typeface="Times New Roman" panose="02020603050405020304" pitchFamily="18" charset="0"/>
              </a:rPr>
              <a:t>. [2016 Presidential Election Results]. FEC.gov. </a:t>
            </a:r>
            <a:r>
              <a:rPr lang="en-US" sz="2000" u="sng" dirty="0">
                <a:solidFill>
                  <a:srgbClr val="0000FF"/>
                </a:solidFill>
                <a:effectLst/>
                <a:latin typeface="Times New Roman" panose="02020603050405020304" pitchFamily="18" charset="0"/>
                <a:cs typeface="Times New Roman" panose="02020603050405020304" pitchFamily="18" charset="0"/>
              </a:rPr>
              <a:t>https://www.fec.gov/introduction-campaign-finance/election-results-and-voting-information/federal-elections-2016/</a:t>
            </a:r>
            <a:r>
              <a:rPr lang="en-US" sz="2000" dirty="0">
                <a:solidFill>
                  <a:srgbClr val="000000"/>
                </a:solidFill>
                <a:effectLst/>
                <a:latin typeface="Times New Roman" panose="02020603050405020304" pitchFamily="18" charset="0"/>
                <a:cs typeface="Times New Roman" panose="02020603050405020304" pitchFamily="18" charset="0"/>
              </a:rPr>
              <a:t> </a:t>
            </a:r>
            <a:br>
              <a:rPr lang="en-US" sz="2000" dirty="0">
                <a:solidFill>
                  <a:srgbClr val="666666"/>
                </a:solidFill>
                <a:effectLst/>
                <a:latin typeface="Times New Roman" panose="02020603050405020304" pitchFamily="18" charset="0"/>
                <a:cs typeface="Times New Roman" panose="02020603050405020304" pitchFamily="18" charset="0"/>
              </a:rPr>
            </a:b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 Leamon, E. J., &amp; </a:t>
            </a:r>
            <a:r>
              <a:rPr lang="en-US" sz="2000" dirty="0" err="1">
                <a:solidFill>
                  <a:srgbClr val="000000"/>
                </a:solidFill>
                <a:effectLst/>
                <a:latin typeface="Times New Roman" panose="02020603050405020304" pitchFamily="18" charset="0"/>
                <a:cs typeface="Times New Roman" panose="02020603050405020304" pitchFamily="18" charset="0"/>
              </a:rPr>
              <a:t>Bucelato</a:t>
            </a:r>
            <a:r>
              <a:rPr lang="en-US" sz="2000" dirty="0">
                <a:solidFill>
                  <a:srgbClr val="000000"/>
                </a:solidFill>
                <a:effectLst/>
                <a:latin typeface="Times New Roman" panose="02020603050405020304" pitchFamily="18" charset="0"/>
                <a:cs typeface="Times New Roman" panose="02020603050405020304" pitchFamily="18" charset="0"/>
              </a:rPr>
              <a:t>, J. (Eds.). FEC. (2022, Oct.). </a:t>
            </a:r>
            <a:r>
              <a:rPr lang="en-US" sz="2000" i="1" dirty="0">
                <a:solidFill>
                  <a:srgbClr val="000000"/>
                </a:solidFill>
                <a:effectLst/>
                <a:latin typeface="Times New Roman" panose="02020603050405020304" pitchFamily="18" charset="0"/>
                <a:cs typeface="Times New Roman" panose="02020603050405020304" pitchFamily="18" charset="0"/>
              </a:rPr>
              <a:t>Federal elections 2020</a:t>
            </a:r>
            <a:r>
              <a:rPr lang="en-US" sz="2000" dirty="0">
                <a:solidFill>
                  <a:srgbClr val="000000"/>
                </a:solidFill>
                <a:effectLst/>
                <a:latin typeface="Times New Roman" panose="02020603050405020304" pitchFamily="18" charset="0"/>
                <a:cs typeface="Times New Roman" panose="02020603050405020304" pitchFamily="18" charset="0"/>
              </a:rPr>
              <a:t>. [2020 Presidential Election Results]. FEC.gov. </a:t>
            </a:r>
            <a:r>
              <a:rPr lang="en-US" sz="2000" u="sng" dirty="0">
                <a:solidFill>
                  <a:srgbClr val="0000FF"/>
                </a:solidFill>
                <a:effectLst/>
                <a:latin typeface="Times New Roman" panose="02020603050405020304" pitchFamily="18" charset="0"/>
                <a:cs typeface="Times New Roman" panose="02020603050405020304" pitchFamily="18" charset="0"/>
              </a:rPr>
              <a:t>https://www.fec.gov/introduction-campaign-finance/election-results-and-voting-information/federal-elections-2020/</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 US Census Bureau. (2024, June 7). </a:t>
            </a:r>
            <a:r>
              <a:rPr lang="en-US" sz="2000" i="1" dirty="0">
                <a:solidFill>
                  <a:srgbClr val="000000"/>
                </a:solidFill>
                <a:effectLst/>
                <a:latin typeface="Times New Roman" panose="02020603050405020304" pitchFamily="18" charset="0"/>
                <a:cs typeface="Times New Roman" panose="02020603050405020304" pitchFamily="18" charset="0"/>
              </a:rPr>
              <a:t>2020 census Apportionment Results</a:t>
            </a:r>
            <a:r>
              <a:rPr lang="en-US" sz="2000" dirty="0">
                <a:solidFill>
                  <a:srgbClr val="000000"/>
                </a:solidFill>
                <a:effectLst/>
                <a:latin typeface="Times New Roman" panose="02020603050405020304" pitchFamily="18" charset="0"/>
                <a:cs typeface="Times New Roman" panose="02020603050405020304" pitchFamily="18" charset="0"/>
              </a:rPr>
              <a:t>. Census.gov. </a:t>
            </a:r>
            <a:r>
              <a:rPr lang="en-US" sz="2000" u="sng" dirty="0">
                <a:solidFill>
                  <a:srgbClr val="0000FF"/>
                </a:solidFill>
                <a:effectLst/>
                <a:latin typeface="Times New Roman" panose="02020603050405020304" pitchFamily="18" charset="0"/>
                <a:cs typeface="Times New Roman" panose="02020603050405020304" pitchFamily="18" charset="0"/>
              </a:rPr>
              <a:t>https://www.census.gov/data/tables/2020/dec/2020-apportionment-data.html</a:t>
            </a:r>
            <a:r>
              <a:rPr lang="en-US" sz="2000" dirty="0">
                <a:solidFill>
                  <a:srgbClr val="000000"/>
                </a:solidFill>
                <a:effectLst/>
                <a:latin typeface="Times New Roman" panose="02020603050405020304" pitchFamily="18" charset="0"/>
                <a:cs typeface="Times New Roman" panose="02020603050405020304" pitchFamily="18" charset="0"/>
              </a:rPr>
              <a:t> </a:t>
            </a:r>
            <a:br>
              <a:rPr lang="en-US" sz="2000" dirty="0">
                <a:solidFill>
                  <a:srgbClr val="666666"/>
                </a:solidFill>
                <a:effectLst/>
                <a:latin typeface="Times New Roman" panose="02020603050405020304" pitchFamily="18" charset="0"/>
                <a:cs typeface="Times New Roman" panose="02020603050405020304" pitchFamily="18" charset="0"/>
              </a:rPr>
            </a:br>
            <a:endParaRPr lang="en-US" sz="2000" dirty="0">
              <a:solidFill>
                <a:srgbClr val="666666"/>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2471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CCCCFF"/>
        </a:solidFill>
        <a:effectLst/>
      </p:bgPr>
    </p:bg>
    <p:spTree>
      <p:nvGrpSpPr>
        <p:cNvPr id="1" name="">
          <a:extLst>
            <a:ext uri="{FF2B5EF4-FFF2-40B4-BE49-F238E27FC236}">
              <a16:creationId xmlns:a16="http://schemas.microsoft.com/office/drawing/2014/main" id="{A0E94C4F-5B2C-786F-DA82-4300B4C177E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891B887-A40C-5587-9A71-2716A4241621}"/>
              </a:ext>
            </a:extLst>
          </p:cNvPr>
          <p:cNvSpPr txBox="1"/>
          <p:nvPr/>
        </p:nvSpPr>
        <p:spPr>
          <a:xfrm>
            <a:off x="320278" y="190203"/>
            <a:ext cx="11551444" cy="6186309"/>
          </a:xfrm>
          <a:prstGeom prst="rect">
            <a:avLst/>
          </a:prstGeom>
          <a:noFill/>
        </p:spPr>
        <p:txBody>
          <a:bodyPr wrap="square">
            <a:spAutoFit/>
          </a:bodyPr>
          <a:lstStyle/>
          <a:p>
            <a:pPr algn="ctr">
              <a:buNone/>
            </a:pPr>
            <a:r>
              <a:rPr lang="en-US" sz="3600" b="1" u="sng" dirty="0">
                <a:solidFill>
                  <a:srgbClr val="000000"/>
                </a:solidFill>
                <a:effectLst/>
                <a:latin typeface="Times New Roman" panose="02020603050405020304" pitchFamily="18" charset="0"/>
                <a:cs typeface="Times New Roman" panose="02020603050405020304" pitchFamily="18" charset="0"/>
              </a:rPr>
              <a:t>Other References</a:t>
            </a:r>
            <a:endParaRPr lang="en-US" sz="3600" dirty="0">
              <a:effectLst/>
              <a:latin typeface="Times New Roman" panose="02020603050405020304" pitchFamily="18" charset="0"/>
              <a:cs typeface="Times New Roman" panose="02020603050405020304" pitchFamily="18" charset="0"/>
            </a:endParaRPr>
          </a:p>
          <a:p>
            <a:pPr algn="ctr">
              <a:buNone/>
            </a:pPr>
            <a:endParaRPr lang="en-US" sz="2000" dirty="0">
              <a:solidFill>
                <a:srgbClr val="666666"/>
              </a:solidFill>
              <a:latin typeface="Times New Roman" panose="02020603050405020304" pitchFamily="18" charset="0"/>
              <a:cs typeface="Times New Roman" panose="02020603050405020304" pitchFamily="18" charset="0"/>
            </a:endParaRPr>
          </a:p>
          <a:p>
            <a:pPr algn="ct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Electoral Ventures LLC. (2025). </a:t>
            </a:r>
            <a:r>
              <a:rPr lang="en-US" sz="2000" i="1" dirty="0">
                <a:solidFill>
                  <a:srgbClr val="000000"/>
                </a:solidFill>
                <a:effectLst/>
                <a:latin typeface="Times New Roman" panose="02020603050405020304" pitchFamily="18" charset="0"/>
                <a:cs typeface="Times New Roman" panose="02020603050405020304" pitchFamily="18" charset="0"/>
              </a:rPr>
              <a:t>Split electoral votes in Maine and Nebraska - 270towin</a:t>
            </a:r>
            <a:r>
              <a:rPr lang="en-US" sz="2000" dirty="0">
                <a:solidFill>
                  <a:srgbClr val="000000"/>
                </a:solidFill>
                <a:effectLst/>
                <a:latin typeface="Times New Roman" panose="02020603050405020304" pitchFamily="18" charset="0"/>
                <a:cs typeface="Times New Roman" panose="02020603050405020304" pitchFamily="18" charset="0"/>
              </a:rPr>
              <a:t>. 270toWin.com. </a:t>
            </a:r>
            <a:r>
              <a:rPr lang="en-US" sz="2000" u="sng" dirty="0">
                <a:solidFill>
                  <a:srgbClr val="0000FF"/>
                </a:solidFill>
                <a:effectLst/>
                <a:latin typeface="Times New Roman" panose="02020603050405020304" pitchFamily="18" charset="0"/>
                <a:cs typeface="Times New Roman" panose="02020603050405020304" pitchFamily="18" charset="0"/>
              </a:rPr>
              <a:t>https://www.270towin.com/content/split-electoral-votes-maine-and-nebraska/</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National Archives and Records Administration. (2025, April 14). </a:t>
            </a:r>
            <a:r>
              <a:rPr lang="en-US" sz="2000" i="1" dirty="0">
                <a:solidFill>
                  <a:srgbClr val="000000"/>
                </a:solidFill>
                <a:effectLst/>
                <a:latin typeface="Times New Roman" panose="02020603050405020304" pitchFamily="18" charset="0"/>
                <a:cs typeface="Times New Roman" panose="02020603050405020304" pitchFamily="18" charset="0"/>
              </a:rPr>
              <a:t>The Constitution: Amendments 11-27</a:t>
            </a:r>
            <a:r>
              <a:rPr lang="en-US" sz="2000" dirty="0">
                <a:solidFill>
                  <a:srgbClr val="000000"/>
                </a:solidFill>
                <a:effectLst/>
                <a:latin typeface="Times New Roman" panose="02020603050405020304" pitchFamily="18" charset="0"/>
                <a:cs typeface="Times New Roman" panose="02020603050405020304" pitchFamily="18" charset="0"/>
              </a:rPr>
              <a:t>. National Archives and Records Administration. </a:t>
            </a:r>
            <a:r>
              <a:rPr lang="en-US" sz="2000" u="sng" dirty="0">
                <a:solidFill>
                  <a:srgbClr val="0000FF"/>
                </a:solidFill>
                <a:effectLst/>
                <a:latin typeface="Times New Roman" panose="02020603050405020304" pitchFamily="18" charset="0"/>
                <a:cs typeface="Times New Roman" panose="02020603050405020304" pitchFamily="18" charset="0"/>
              </a:rPr>
              <a:t>https://www.archives.gov/founding-docs/amendments-11-27</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US House of Representatives. (n.d.). </a:t>
            </a:r>
            <a:r>
              <a:rPr lang="en-US" sz="2000" i="1" dirty="0">
                <a:solidFill>
                  <a:srgbClr val="000000"/>
                </a:solidFill>
                <a:effectLst/>
                <a:latin typeface="Times New Roman" panose="02020603050405020304" pitchFamily="18" charset="0"/>
                <a:cs typeface="Times New Roman" panose="02020603050405020304" pitchFamily="18" charset="0"/>
              </a:rPr>
              <a:t>The Permanent Apportionment Act of 1929</a:t>
            </a:r>
            <a:r>
              <a:rPr lang="en-US" sz="2000" dirty="0">
                <a:solidFill>
                  <a:srgbClr val="000000"/>
                </a:solidFill>
                <a:effectLst/>
                <a:latin typeface="Times New Roman" panose="02020603050405020304" pitchFamily="18" charset="0"/>
                <a:cs typeface="Times New Roman" panose="02020603050405020304" pitchFamily="18" charset="0"/>
              </a:rPr>
              <a:t>. US House of Representatives: History, Art &amp; Archives. </a:t>
            </a:r>
            <a:r>
              <a:rPr lang="en-US" sz="2000" u="sng" dirty="0">
                <a:solidFill>
                  <a:srgbClr val="0000FF"/>
                </a:solidFill>
                <a:effectLst/>
                <a:latin typeface="Times New Roman" panose="02020603050405020304" pitchFamily="18" charset="0"/>
                <a:cs typeface="Times New Roman" panose="02020603050405020304" pitchFamily="18" charset="0"/>
              </a:rPr>
              <a:t>https://history.house.gov/Historical-Highlights/1901-1950/The-Permanent-Apportionment-Act-of-1929/</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Wang, H. L. (2021, April 20). </a:t>
            </a:r>
            <a:r>
              <a:rPr lang="en-US" sz="2000" i="1" dirty="0">
                <a:solidFill>
                  <a:srgbClr val="000000"/>
                </a:solidFill>
                <a:effectLst/>
                <a:latin typeface="Times New Roman" panose="02020603050405020304" pitchFamily="18" charset="0"/>
                <a:cs typeface="Times New Roman" panose="02020603050405020304" pitchFamily="18" charset="0"/>
              </a:rPr>
              <a:t>Stuck at 435 representatives? why the U.S. House hasn’t grown with Census counts</a:t>
            </a:r>
            <a:r>
              <a:rPr lang="en-US" sz="2000" dirty="0">
                <a:solidFill>
                  <a:srgbClr val="000000"/>
                </a:solidFill>
                <a:effectLst/>
                <a:latin typeface="Times New Roman" panose="02020603050405020304" pitchFamily="18" charset="0"/>
                <a:cs typeface="Times New Roman" panose="02020603050405020304" pitchFamily="18" charset="0"/>
              </a:rPr>
              <a:t>. NPR. </a:t>
            </a:r>
            <a:r>
              <a:rPr lang="en-US" sz="2000" u="sng" dirty="0">
                <a:solidFill>
                  <a:srgbClr val="0000FF"/>
                </a:solidFill>
                <a:effectLst/>
                <a:latin typeface="Times New Roman" panose="02020603050405020304" pitchFamily="18" charset="0"/>
                <a:cs typeface="Times New Roman" panose="02020603050405020304" pitchFamily="18" charset="0"/>
              </a:rPr>
              <a:t>https://www.npr.org/2021/04/20/988865415/stuck-at-435-representatives-why-the-u-s-house-hasnt-grown-with-census-counts</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78021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1143</TotalTime>
  <Words>837</Words>
  <Application>Microsoft Office PowerPoint</Application>
  <PresentationFormat>Widescreen</PresentationFormat>
  <Paragraphs>56</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Tableau Book</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M. Halaz</dc:creator>
  <cp:lastModifiedBy>James M. Halaz</cp:lastModifiedBy>
  <cp:revision>20</cp:revision>
  <dcterms:created xsi:type="dcterms:W3CDTF">2025-11-17T19:32:55Z</dcterms:created>
  <dcterms:modified xsi:type="dcterms:W3CDTF">2026-05-15T23:13:52Z</dcterms:modified>
</cp:coreProperties>
</file>